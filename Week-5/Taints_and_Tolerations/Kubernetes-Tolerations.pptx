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embeddedFontLst>
    <p:embeddedFont>
      <p:font typeface="Outfit"/>
      <p:regular r:id="rId16"/>
    </p:embeddedFont>
    <p:embeddedFont>
      <p:font typeface="Outfit"/>
      <p:regular r:id="rId17"/>
    </p:embeddedFont>
    <p:embeddedFont>
      <p:font typeface="Bitter"/>
      <p:regular r:id="rId18"/>
    </p:embeddedFont>
    <p:embeddedFont>
      <p:font typeface="Bitter"/>
      <p:regular r:id="rId19"/>
    </p:embeddedFont>
    <p:embeddedFont>
      <p:font typeface="Bitter"/>
      <p:regular r:id="rId20"/>
    </p:embeddedFont>
    <p:embeddedFont>
      <p:font typeface="Bitter"/>
      <p:regular r:id="rId2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slideLayout" Target="../slideLayouts/slideLayout10.xml"/><Relationship Id="rId10"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280190" y="3338393"/>
            <a:ext cx="5270540" cy="620078"/>
          </a:xfrm>
          <a:prstGeom prst="rect">
            <a:avLst/>
          </a:prstGeom>
          <a:noFill/>
          <a:ln/>
        </p:spPr>
        <p:txBody>
          <a:bodyPr wrap="none" lIns="0" tIns="0" rIns="0" bIns="0" rtlCol="0" anchor="t"/>
          <a:lstStyle/>
          <a:p>
            <a:pPr algn="l" indent="0" marL="0">
              <a:lnSpc>
                <a:spcPts val="4850"/>
              </a:lnSpc>
              <a:buNone/>
            </a:pPr>
            <a:r>
              <a:rPr lang="en-US" sz="3900" b="1" dirty="0">
                <a:solidFill>
                  <a:srgbClr val="E1E5CD"/>
                </a:solidFill>
                <a:latin typeface="Outfit Bold" pitchFamily="34" charset="0"/>
                <a:ea typeface="Outfit Bold" pitchFamily="34" charset="-122"/>
                <a:cs typeface="Outfit Bold" pitchFamily="34" charset="-120"/>
              </a:rPr>
              <a:t>Kubernetes Tolerations</a:t>
            </a:r>
            <a:endParaRPr lang="en-US" sz="3900" dirty="0"/>
          </a:p>
        </p:txBody>
      </p:sp>
      <p:sp>
        <p:nvSpPr>
          <p:cNvPr id="4" name="Text 1"/>
          <p:cNvSpPr/>
          <p:nvPr/>
        </p:nvSpPr>
        <p:spPr>
          <a:xfrm>
            <a:off x="6280190" y="4256127"/>
            <a:ext cx="7556421" cy="635079"/>
          </a:xfrm>
          <a:prstGeom prst="rect">
            <a:avLst/>
          </a:prstGeom>
          <a:noFill/>
          <a:ln/>
        </p:spPr>
        <p:txBody>
          <a:bodyPr wrap="square" lIns="0" tIns="0" rIns="0" bIns="0" rtlCol="0" anchor="t"/>
          <a:lstStyle/>
          <a:p>
            <a:pPr algn="l" indent="0" marL="0">
              <a:lnSpc>
                <a:spcPts val="2500"/>
              </a:lnSpc>
              <a:buNone/>
            </a:pPr>
            <a:r>
              <a:rPr lang="en-US" sz="1550" dirty="0">
                <a:solidFill>
                  <a:srgbClr val="C2C4B5"/>
                </a:solidFill>
                <a:latin typeface="Bitter" pitchFamily="34" charset="0"/>
                <a:ea typeface="Bitter" pitchFamily="34" charset="-122"/>
                <a:cs typeface="Bitter" pitchFamily="34" charset="-120"/>
              </a:rPr>
              <a:t>Master the art of scheduling pods on tainted nodes with tolerations. A comprehensive guide for CKA candidates and Kubernetes beginners.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77240" y="534352"/>
            <a:ext cx="6439853" cy="576858"/>
          </a:xfrm>
          <a:prstGeom prst="rect">
            <a:avLst/>
          </a:prstGeom>
          <a:noFill/>
          <a:ln/>
        </p:spPr>
        <p:txBody>
          <a:bodyPr wrap="none" lIns="0" tIns="0" rIns="0" bIns="0" rtlCol="0" anchor="t"/>
          <a:lstStyle/>
          <a:p>
            <a:pPr algn="l" indent="0" marL="0">
              <a:lnSpc>
                <a:spcPts val="4500"/>
              </a:lnSpc>
              <a:buNone/>
            </a:pPr>
            <a:r>
              <a:rPr lang="en-US" sz="3600" b="1" dirty="0">
                <a:solidFill>
                  <a:srgbClr val="E1E5CD"/>
                </a:solidFill>
                <a:latin typeface="Outfit Bold" pitchFamily="34" charset="0"/>
                <a:ea typeface="Outfit Bold" pitchFamily="34" charset="-122"/>
                <a:cs typeface="Outfit Bold" pitchFamily="34" charset="-120"/>
              </a:rPr>
              <a:t>Quick Recap: What are Taints?</a:t>
            </a:r>
            <a:endParaRPr lang="en-US" sz="3600" dirty="0"/>
          </a:p>
        </p:txBody>
      </p:sp>
      <p:sp>
        <p:nvSpPr>
          <p:cNvPr id="3" name="Text 1"/>
          <p:cNvSpPr/>
          <p:nvPr/>
        </p:nvSpPr>
        <p:spPr>
          <a:xfrm>
            <a:off x="777240" y="1523047"/>
            <a:ext cx="7665363" cy="854750"/>
          </a:xfrm>
          <a:prstGeom prst="rect">
            <a:avLst/>
          </a:prstGeom>
          <a:noFill/>
          <a:ln/>
        </p:spPr>
        <p:txBody>
          <a:bodyPr wrap="square" lIns="0" tIns="0" rIns="0" bIns="0" rtlCol="0" anchor="t"/>
          <a:lstStyle/>
          <a:p>
            <a:pPr algn="l" indent="0" marL="0">
              <a:lnSpc>
                <a:spcPts val="2200"/>
              </a:lnSpc>
              <a:buNone/>
            </a:pPr>
            <a:r>
              <a:rPr lang="en-US" sz="1450" dirty="0">
                <a:solidFill>
                  <a:srgbClr val="C2C4B5"/>
                </a:solidFill>
                <a:latin typeface="Bitter" pitchFamily="34" charset="0"/>
                <a:ea typeface="Bitter" pitchFamily="34" charset="-122"/>
                <a:cs typeface="Bitter" pitchFamily="34" charset="-120"/>
              </a:rPr>
              <a:t>Before diving into tolerations, let's quickly refresh our understanding of taints. Taints are applied to nodes to repel pods that don't meet specific criteria. Think of them as "No Entry" signs on your nodes!</a:t>
            </a:r>
            <a:endParaRPr lang="en-US" sz="1450" dirty="0"/>
          </a:p>
        </p:txBody>
      </p:sp>
      <p:sp>
        <p:nvSpPr>
          <p:cNvPr id="4" name="Text 2"/>
          <p:cNvSpPr/>
          <p:nvPr/>
        </p:nvSpPr>
        <p:spPr>
          <a:xfrm>
            <a:off x="777240" y="2532221"/>
            <a:ext cx="7665363" cy="284917"/>
          </a:xfrm>
          <a:prstGeom prst="rect">
            <a:avLst/>
          </a:prstGeom>
          <a:noFill/>
          <a:ln/>
        </p:spPr>
        <p:txBody>
          <a:bodyPr wrap="none" lIns="0" tIns="0" rIns="0" bIns="0" rtlCol="0" anchor="t"/>
          <a:lstStyle/>
          <a:p>
            <a:pPr algn="l" indent="0" marL="0">
              <a:lnSpc>
                <a:spcPts val="2200"/>
              </a:lnSpc>
              <a:buNone/>
            </a:pPr>
            <a:r>
              <a:rPr lang="en-US" sz="1450" b="1" dirty="0">
                <a:solidFill>
                  <a:srgbClr val="C2C4B5"/>
                </a:solidFill>
                <a:latin typeface="Bitter" pitchFamily="34" charset="0"/>
                <a:ea typeface="Bitter" pitchFamily="34" charset="-122"/>
                <a:cs typeface="Bitter" pitchFamily="34" charset="-120"/>
              </a:rPr>
              <a:t>Why use taints?</a:t>
            </a:r>
            <a:endParaRPr lang="en-US" sz="1450" dirty="0"/>
          </a:p>
        </p:txBody>
      </p:sp>
      <p:sp>
        <p:nvSpPr>
          <p:cNvPr id="5" name="Text 3"/>
          <p:cNvSpPr/>
          <p:nvPr/>
        </p:nvSpPr>
        <p:spPr>
          <a:xfrm>
            <a:off x="777240" y="2971562"/>
            <a:ext cx="7665363" cy="1319689"/>
          </a:xfrm>
          <a:prstGeom prst="rect">
            <a:avLst/>
          </a:prstGeom>
          <a:noFill/>
          <a:ln/>
        </p:spPr>
        <p:txBody>
          <a:bodyPr wrap="square" lIns="0" tIns="0" rIns="0" bIns="0" rtlCol="0" anchor="t"/>
          <a:lstStyle/>
          <a:p>
            <a:pPr algn="l" marL="342900" indent="-342900">
              <a:lnSpc>
                <a:spcPts val="2200"/>
              </a:lnSpc>
              <a:buSzPct val="100000"/>
              <a:buChar char="•"/>
            </a:pPr>
            <a:r>
              <a:rPr lang="en-US" sz="1450" dirty="0">
                <a:solidFill>
                  <a:srgbClr val="C2C4B5"/>
                </a:solidFill>
                <a:latin typeface="Bitter" pitchFamily="34" charset="0"/>
                <a:ea typeface="Bitter" pitchFamily="34" charset="-122"/>
                <a:cs typeface="Bitter" pitchFamily="34" charset="-120"/>
              </a:rPr>
              <a:t>Reserve nodes for specific workloads (e.g., system pods only)</a:t>
            </a:r>
            <a:endParaRPr lang="en-US" sz="1450" dirty="0"/>
          </a:p>
          <a:p>
            <a:pPr algn="l" marL="342900" indent="-342900">
              <a:lnSpc>
                <a:spcPts val="2200"/>
              </a:lnSpc>
              <a:buSzPct val="100000"/>
              <a:buChar char="•"/>
            </a:pPr>
            <a:r>
              <a:rPr lang="en-US" sz="1450" dirty="0">
                <a:solidFill>
                  <a:srgbClr val="C2C4B5"/>
                </a:solidFill>
                <a:latin typeface="Bitter" pitchFamily="34" charset="0"/>
                <a:ea typeface="Bitter" pitchFamily="34" charset="-122"/>
                <a:cs typeface="Bitter" pitchFamily="34" charset="-120"/>
              </a:rPr>
              <a:t>Prevent scheduling during maintenance</a:t>
            </a:r>
            <a:endParaRPr lang="en-US" sz="1450" dirty="0"/>
          </a:p>
          <a:p>
            <a:pPr algn="l" marL="342900" indent="-342900">
              <a:lnSpc>
                <a:spcPts val="2200"/>
              </a:lnSpc>
              <a:buSzPct val="100000"/>
              <a:buChar char="•"/>
            </a:pPr>
            <a:r>
              <a:rPr lang="en-US" sz="1450" dirty="0">
                <a:solidFill>
                  <a:srgbClr val="C2C4B5"/>
                </a:solidFill>
                <a:latin typeface="Bitter" pitchFamily="34" charset="0"/>
                <a:ea typeface="Bitter" pitchFamily="34" charset="-122"/>
                <a:cs typeface="Bitter" pitchFamily="34" charset="-120"/>
              </a:rPr>
              <a:t>Separate workloads by hardware type or purpose</a:t>
            </a:r>
            <a:endParaRPr lang="en-US" sz="1450" dirty="0"/>
          </a:p>
          <a:p>
            <a:pPr algn="l" marL="342900" indent="-342900">
              <a:lnSpc>
                <a:spcPts val="2200"/>
              </a:lnSpc>
              <a:buSzPct val="100000"/>
              <a:buChar char="•"/>
            </a:pPr>
            <a:r>
              <a:rPr lang="en-US" sz="1450" dirty="0">
                <a:solidFill>
                  <a:srgbClr val="C2C4B5"/>
                </a:solidFill>
                <a:latin typeface="Bitter" pitchFamily="34" charset="0"/>
                <a:ea typeface="Bitter" pitchFamily="34" charset="-122"/>
                <a:cs typeface="Bitter" pitchFamily="34" charset="-120"/>
              </a:rPr>
              <a:t>Implement security policies at the node level</a:t>
            </a:r>
            <a:endParaRPr lang="en-US" sz="1450" dirty="0"/>
          </a:p>
        </p:txBody>
      </p:sp>
      <p:sp>
        <p:nvSpPr>
          <p:cNvPr id="6" name="Text 4"/>
          <p:cNvSpPr/>
          <p:nvPr/>
        </p:nvSpPr>
        <p:spPr>
          <a:xfrm>
            <a:off x="777240" y="4445675"/>
            <a:ext cx="7665363" cy="284917"/>
          </a:xfrm>
          <a:prstGeom prst="rect">
            <a:avLst/>
          </a:prstGeom>
          <a:noFill/>
          <a:ln/>
        </p:spPr>
        <p:txBody>
          <a:bodyPr wrap="none" lIns="0" tIns="0" rIns="0" bIns="0" rtlCol="0" anchor="t"/>
          <a:lstStyle/>
          <a:p>
            <a:pPr algn="l" indent="0" marL="0">
              <a:lnSpc>
                <a:spcPts val="2200"/>
              </a:lnSpc>
              <a:buNone/>
            </a:pPr>
            <a:r>
              <a:rPr lang="en-US" sz="1450" b="1" dirty="0">
                <a:solidFill>
                  <a:srgbClr val="C2C4B5"/>
                </a:solidFill>
                <a:latin typeface="Bitter" pitchFamily="34" charset="0"/>
                <a:ea typeface="Bitter" pitchFamily="34" charset="-122"/>
                <a:cs typeface="Bitter" pitchFamily="34" charset="-120"/>
              </a:rPr>
              <a:t>Three taint effects:</a:t>
            </a:r>
            <a:endParaRPr lang="en-US" sz="1450" dirty="0"/>
          </a:p>
        </p:txBody>
      </p:sp>
      <p:sp>
        <p:nvSpPr>
          <p:cNvPr id="7" name="Text 5"/>
          <p:cNvSpPr/>
          <p:nvPr/>
        </p:nvSpPr>
        <p:spPr>
          <a:xfrm>
            <a:off x="777240" y="4885015"/>
            <a:ext cx="7665363" cy="1282541"/>
          </a:xfrm>
          <a:prstGeom prst="rect">
            <a:avLst/>
          </a:prstGeom>
          <a:noFill/>
          <a:ln/>
        </p:spPr>
        <p:txBody>
          <a:bodyPr wrap="square" lIns="0" tIns="0" rIns="0" bIns="0" rtlCol="0" anchor="t"/>
          <a:lstStyle/>
          <a:p>
            <a:pPr algn="l" marL="342900" indent="-342900">
              <a:lnSpc>
                <a:spcPts val="2200"/>
              </a:lnSpc>
              <a:buSzPct val="100000"/>
              <a:buChar char="•"/>
            </a:pPr>
            <a:r>
              <a:rPr lang="en-US" sz="1450" dirty="0">
                <a:solidFill>
                  <a:srgbClr val="C2C4B5"/>
                </a:solidFill>
                <a:highlight>
                  <a:srgbClr val="292A2C"/>
                </a:highlight>
                <a:latin typeface="Consolas" pitchFamily="34" charset="0"/>
                <a:ea typeface="Consolas" pitchFamily="34" charset="-122"/>
                <a:cs typeface="Consolas" pitchFamily="34" charset="-120"/>
              </a:rPr>
              <a:t>NoSchedule</a:t>
            </a:r>
            <a:pPr algn="l" indent="0" marL="0">
              <a:lnSpc>
                <a:spcPts val="2200"/>
              </a:lnSpc>
              <a:buNone/>
            </a:pPr>
            <a:r>
              <a:rPr lang="en-US" sz="1450" dirty="0">
                <a:solidFill>
                  <a:srgbClr val="C2C4B5"/>
                </a:solidFill>
                <a:latin typeface="Bitter" pitchFamily="34" charset="0"/>
                <a:ea typeface="Bitter" pitchFamily="34" charset="-122"/>
                <a:cs typeface="Bitter" pitchFamily="34" charset="-120"/>
              </a:rPr>
              <a:t> - New pods won't be scheduled (existing pods unaffected)</a:t>
            </a:r>
            <a:endParaRPr lang="en-US" sz="1450" dirty="0"/>
          </a:p>
          <a:p>
            <a:pPr algn="l" marL="342900" indent="-342900">
              <a:lnSpc>
                <a:spcPts val="2200"/>
              </a:lnSpc>
              <a:buSzPct val="100000"/>
              <a:buChar char="•"/>
            </a:pPr>
            <a:r>
              <a:rPr lang="en-US" sz="1450" dirty="0">
                <a:solidFill>
                  <a:srgbClr val="C2C4B5"/>
                </a:solidFill>
                <a:highlight>
                  <a:srgbClr val="292A2C"/>
                </a:highlight>
                <a:latin typeface="Consolas" pitchFamily="34" charset="0"/>
                <a:ea typeface="Consolas" pitchFamily="34" charset="-122"/>
                <a:cs typeface="Consolas" pitchFamily="34" charset="-120"/>
              </a:rPr>
              <a:t>PreferNoSchedule</a:t>
            </a:r>
            <a:pPr algn="l" indent="0" marL="0">
              <a:lnSpc>
                <a:spcPts val="2200"/>
              </a:lnSpc>
              <a:buNone/>
            </a:pPr>
            <a:r>
              <a:rPr lang="en-US" sz="1450" dirty="0">
                <a:solidFill>
                  <a:srgbClr val="C2C4B5"/>
                </a:solidFill>
                <a:latin typeface="Bitter" pitchFamily="34" charset="0"/>
                <a:ea typeface="Bitter" pitchFamily="34" charset="-122"/>
                <a:cs typeface="Bitter" pitchFamily="34" charset="-120"/>
              </a:rPr>
              <a:t> - Kubernetes will try to avoid scheduling but may still place pods if necessary</a:t>
            </a:r>
            <a:endParaRPr lang="en-US" sz="1450" dirty="0"/>
          </a:p>
          <a:p>
            <a:pPr algn="l" marL="342900" indent="-342900">
              <a:lnSpc>
                <a:spcPts val="2200"/>
              </a:lnSpc>
              <a:buSzPct val="100000"/>
              <a:buChar char="•"/>
            </a:pPr>
            <a:r>
              <a:rPr lang="en-US" sz="1450" dirty="0">
                <a:solidFill>
                  <a:srgbClr val="C2C4B5"/>
                </a:solidFill>
                <a:highlight>
                  <a:srgbClr val="292A2C"/>
                </a:highlight>
                <a:latin typeface="Consolas" pitchFamily="34" charset="0"/>
                <a:ea typeface="Consolas" pitchFamily="34" charset="-122"/>
                <a:cs typeface="Consolas" pitchFamily="34" charset="-120"/>
              </a:rPr>
              <a:t>NoExecute</a:t>
            </a:r>
            <a:pPr algn="l" indent="0" marL="0">
              <a:lnSpc>
                <a:spcPts val="2200"/>
              </a:lnSpc>
              <a:buNone/>
            </a:pPr>
            <a:r>
              <a:rPr lang="en-US" sz="1450" dirty="0">
                <a:solidFill>
                  <a:srgbClr val="C2C4B5"/>
                </a:solidFill>
                <a:latin typeface="Bitter" pitchFamily="34" charset="0"/>
                <a:ea typeface="Bitter" pitchFamily="34" charset="-122"/>
                <a:cs typeface="Bitter" pitchFamily="34" charset="-120"/>
              </a:rPr>
              <a:t> - Evicts existing pods AND prevents new scheduling</a:t>
            </a:r>
            <a:endParaRPr lang="en-US" sz="1450" dirty="0"/>
          </a:p>
        </p:txBody>
      </p:sp>
      <p:pic>
        <p:nvPicPr>
          <p:cNvPr id="8" name="Image 0" descr="preencoded.png">    </p:cNvPr>
          <p:cNvPicPr>
            <a:picLocks noChangeAspect="1"/>
          </p:cNvPicPr>
          <p:nvPr/>
        </p:nvPicPr>
        <p:blipFill>
          <a:blip r:embed="rId1"/>
          <a:stretch>
            <a:fillRect/>
          </a:stretch>
        </p:blipFill>
        <p:spPr>
          <a:xfrm>
            <a:off x="8900517" y="1561743"/>
            <a:ext cx="4712137" cy="4712137"/>
          </a:xfrm>
          <a:prstGeom prst="rect">
            <a:avLst/>
          </a:prstGeom>
        </p:spPr>
      </p:pic>
      <p:sp>
        <p:nvSpPr>
          <p:cNvPr id="9" name="Shape 6"/>
          <p:cNvSpPr/>
          <p:nvPr/>
        </p:nvSpPr>
        <p:spPr>
          <a:xfrm>
            <a:off x="777240" y="6660118"/>
            <a:ext cx="13075920" cy="1041797"/>
          </a:xfrm>
          <a:prstGeom prst="roundRect">
            <a:avLst>
              <a:gd name="adj" fmla="val 2658"/>
            </a:avLst>
          </a:prstGeom>
          <a:solidFill>
            <a:srgbClr val="2A2C20"/>
          </a:solidFill>
          <a:ln/>
        </p:spPr>
      </p:sp>
      <p:pic>
        <p:nvPicPr>
          <p:cNvPr id="10" name="Image 1" descr="preencoded.png">    </p:cNvPr>
          <p:cNvPicPr>
            <a:picLocks noChangeAspect="1"/>
          </p:cNvPicPr>
          <p:nvPr/>
        </p:nvPicPr>
        <p:blipFill>
          <a:blip r:embed="rId2"/>
          <a:stretch>
            <a:fillRect/>
          </a:stretch>
        </p:blipFill>
        <p:spPr>
          <a:xfrm>
            <a:off x="961787" y="6934914"/>
            <a:ext cx="230743" cy="184547"/>
          </a:xfrm>
          <a:prstGeom prst="rect">
            <a:avLst/>
          </a:prstGeom>
        </p:spPr>
      </p:pic>
      <p:sp>
        <p:nvSpPr>
          <p:cNvPr id="11" name="Text 7"/>
          <p:cNvSpPr/>
          <p:nvPr/>
        </p:nvSpPr>
        <p:spPr>
          <a:xfrm>
            <a:off x="1377077" y="6877764"/>
            <a:ext cx="12291536" cy="577453"/>
          </a:xfrm>
          <a:prstGeom prst="rect">
            <a:avLst/>
          </a:prstGeom>
          <a:noFill/>
          <a:ln/>
        </p:spPr>
        <p:txBody>
          <a:bodyPr wrap="square" lIns="0" tIns="0" rIns="0" bIns="0" rtlCol="0" anchor="t"/>
          <a:lstStyle/>
          <a:p>
            <a:pPr algn="l" indent="0" marL="0">
              <a:lnSpc>
                <a:spcPts val="2200"/>
              </a:lnSpc>
              <a:buNone/>
            </a:pPr>
            <a:r>
              <a:rPr lang="en-US" sz="1450" b="1" dirty="0">
                <a:solidFill>
                  <a:srgbClr val="FFFFFF"/>
                </a:solidFill>
                <a:latin typeface="Bitter" pitchFamily="34" charset="0"/>
                <a:ea typeface="Bitter" pitchFamily="34" charset="-122"/>
                <a:cs typeface="Bitter" pitchFamily="34" charset="-120"/>
              </a:rPr>
              <a:t>Exam Tip:</a:t>
            </a:r>
            <a:pPr algn="l" indent="0" marL="0">
              <a:lnSpc>
                <a:spcPts val="2200"/>
              </a:lnSpc>
              <a:buNone/>
            </a:pPr>
            <a:r>
              <a:rPr lang="en-US" sz="1450" dirty="0">
                <a:solidFill>
                  <a:srgbClr val="FFFFFF"/>
                </a:solidFill>
                <a:latin typeface="Bitter" pitchFamily="34" charset="0"/>
                <a:ea typeface="Bitter" pitchFamily="34" charset="-122"/>
                <a:cs typeface="Bitter" pitchFamily="34" charset="-120"/>
              </a:rPr>
              <a:t> Remember that taints are applied to nodes using </a:t>
            </a:r>
            <a:pPr algn="l" indent="0" marL="0">
              <a:lnSpc>
                <a:spcPts val="2200"/>
              </a:lnSpc>
              <a:buNone/>
            </a:pPr>
            <a:r>
              <a:rPr lang="en-US" sz="1450" dirty="0">
                <a:solidFill>
                  <a:srgbClr val="FFFFFF"/>
                </a:solidFill>
                <a:highlight>
                  <a:srgbClr val="292A2C"/>
                </a:highlight>
                <a:latin typeface="Consolas" pitchFamily="34" charset="0"/>
                <a:ea typeface="Consolas" pitchFamily="34" charset="-122"/>
                <a:cs typeface="Consolas" pitchFamily="34" charset="-120"/>
              </a:rPr>
              <a:t>kubectl taint</a:t>
            </a:r>
            <a:pPr algn="l" indent="0" marL="0">
              <a:lnSpc>
                <a:spcPts val="2200"/>
              </a:lnSpc>
              <a:buNone/>
            </a:pPr>
            <a:r>
              <a:rPr lang="en-US" sz="1450" dirty="0">
                <a:solidFill>
                  <a:srgbClr val="FFFFFF"/>
                </a:solidFill>
                <a:latin typeface="Bitter" pitchFamily="34" charset="0"/>
                <a:ea typeface="Bitter" pitchFamily="34" charset="-122"/>
                <a:cs typeface="Bitter" pitchFamily="34" charset="-120"/>
              </a:rPr>
              <a:t> or in node specification, whilst tolerations are defined in pod specifications.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541145"/>
            <a:ext cx="5045273" cy="620078"/>
          </a:xfrm>
          <a:prstGeom prst="rect">
            <a:avLst/>
          </a:prstGeom>
          <a:noFill/>
          <a:ln/>
        </p:spPr>
        <p:txBody>
          <a:bodyPr wrap="none" lIns="0" tIns="0" rIns="0" bIns="0" rtlCol="0" anchor="t"/>
          <a:lstStyle/>
          <a:p>
            <a:pPr algn="l" indent="0" marL="0">
              <a:lnSpc>
                <a:spcPts val="4850"/>
              </a:lnSpc>
              <a:buNone/>
            </a:pPr>
            <a:r>
              <a:rPr lang="en-US" sz="3900" b="1" dirty="0">
                <a:solidFill>
                  <a:srgbClr val="E1E5CD"/>
                </a:solidFill>
                <a:latin typeface="Outfit Bold" pitchFamily="34" charset="0"/>
                <a:ea typeface="Outfit Bold" pitchFamily="34" charset="-122"/>
                <a:cs typeface="Outfit Bold" pitchFamily="34" charset="-120"/>
              </a:rPr>
              <a:t>What are Tolerations?</a:t>
            </a:r>
            <a:endParaRPr lang="en-US" sz="3900" dirty="0"/>
          </a:p>
        </p:txBody>
      </p:sp>
      <p:sp>
        <p:nvSpPr>
          <p:cNvPr id="3" name="Text 1"/>
          <p:cNvSpPr/>
          <p:nvPr/>
        </p:nvSpPr>
        <p:spPr>
          <a:xfrm>
            <a:off x="793790" y="255805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C2C4B5"/>
                </a:solidFill>
                <a:latin typeface="Bitter" pitchFamily="34" charset="0"/>
                <a:ea typeface="Bitter" pitchFamily="34" charset="-122"/>
                <a:cs typeface="Bitter" pitchFamily="34" charset="-120"/>
              </a:rPr>
              <a:t>Tolerations are the "keys" that allow pods to be scheduled on "locked" nodes with taints. When you define a toleration in your pod specification, you're essentially saying: "This pod is allowed to run on nodes with these specific taints."</a:t>
            </a:r>
            <a:endParaRPr lang="en-US" sz="1550" dirty="0"/>
          </a:p>
        </p:txBody>
      </p:sp>
      <p:sp>
        <p:nvSpPr>
          <p:cNvPr id="4" name="Shape 2"/>
          <p:cNvSpPr/>
          <p:nvPr/>
        </p:nvSpPr>
        <p:spPr>
          <a:xfrm>
            <a:off x="793790" y="3416379"/>
            <a:ext cx="4215289" cy="2413635"/>
          </a:xfrm>
          <a:prstGeom prst="roundRect">
            <a:avLst>
              <a:gd name="adj" fmla="val 1233"/>
            </a:avLst>
          </a:prstGeom>
          <a:solidFill>
            <a:srgbClr val="3B3C3E"/>
          </a:solidFill>
          <a:ln/>
        </p:spPr>
      </p:sp>
      <p:sp>
        <p:nvSpPr>
          <p:cNvPr id="5" name="Text 3"/>
          <p:cNvSpPr/>
          <p:nvPr/>
        </p:nvSpPr>
        <p:spPr>
          <a:xfrm>
            <a:off x="992148" y="3614738"/>
            <a:ext cx="3303508" cy="310158"/>
          </a:xfrm>
          <a:prstGeom prst="rect">
            <a:avLst/>
          </a:prstGeom>
          <a:noFill/>
          <a:ln/>
        </p:spPr>
        <p:txBody>
          <a:bodyPr wrap="none" lIns="0" tIns="0" rIns="0" bIns="0" rtlCol="0" anchor="t"/>
          <a:lstStyle/>
          <a:p>
            <a:pPr algn="l" indent="0" marL="0">
              <a:lnSpc>
                <a:spcPts val="2400"/>
              </a:lnSpc>
              <a:buNone/>
            </a:pPr>
            <a:r>
              <a:rPr lang="en-US" sz="1950" b="1" dirty="0">
                <a:solidFill>
                  <a:srgbClr val="C2C4B5"/>
                </a:solidFill>
                <a:latin typeface="Outfit Bold" pitchFamily="34" charset="0"/>
                <a:ea typeface="Outfit Bold" pitchFamily="34" charset="-122"/>
                <a:cs typeface="Outfit Bold" pitchFamily="34" charset="-120"/>
              </a:rPr>
              <a:t>Permission, Not Requirement</a:t>
            </a:r>
            <a:endParaRPr lang="en-US" sz="1950" dirty="0"/>
          </a:p>
        </p:txBody>
      </p:sp>
      <p:sp>
        <p:nvSpPr>
          <p:cNvPr id="6" name="Text 4"/>
          <p:cNvSpPr/>
          <p:nvPr/>
        </p:nvSpPr>
        <p:spPr>
          <a:xfrm>
            <a:off x="992148" y="4043958"/>
            <a:ext cx="3818573" cy="1587698"/>
          </a:xfrm>
          <a:prstGeom prst="rect">
            <a:avLst/>
          </a:prstGeom>
          <a:noFill/>
          <a:ln/>
        </p:spPr>
        <p:txBody>
          <a:bodyPr wrap="square" lIns="0" tIns="0" rIns="0" bIns="0" rtlCol="0" anchor="t"/>
          <a:lstStyle/>
          <a:p>
            <a:pPr algn="l" indent="0" marL="0">
              <a:lnSpc>
                <a:spcPts val="2500"/>
              </a:lnSpc>
              <a:buNone/>
            </a:pPr>
            <a:r>
              <a:rPr lang="en-US" sz="1550" dirty="0">
                <a:solidFill>
                  <a:srgbClr val="C2C4B5"/>
                </a:solidFill>
                <a:latin typeface="Bitter" pitchFamily="34" charset="0"/>
                <a:ea typeface="Bitter" pitchFamily="34" charset="-122"/>
                <a:cs typeface="Bitter" pitchFamily="34" charset="-120"/>
              </a:rPr>
              <a:t>Tolerations give permission to schedule on tainted nodes, but don't force scheduling there. The scheduler still considers other factors like resources and affinity.</a:t>
            </a:r>
            <a:endParaRPr lang="en-US" sz="1550" dirty="0"/>
          </a:p>
        </p:txBody>
      </p:sp>
      <p:sp>
        <p:nvSpPr>
          <p:cNvPr id="7" name="Shape 5"/>
          <p:cNvSpPr/>
          <p:nvPr/>
        </p:nvSpPr>
        <p:spPr>
          <a:xfrm>
            <a:off x="5207437" y="3416379"/>
            <a:ext cx="4215408" cy="2413635"/>
          </a:xfrm>
          <a:prstGeom prst="roundRect">
            <a:avLst>
              <a:gd name="adj" fmla="val 1233"/>
            </a:avLst>
          </a:prstGeom>
          <a:solidFill>
            <a:srgbClr val="3B3C3E"/>
          </a:solidFill>
          <a:ln/>
        </p:spPr>
      </p:sp>
      <p:sp>
        <p:nvSpPr>
          <p:cNvPr id="8" name="Text 6"/>
          <p:cNvSpPr/>
          <p:nvPr/>
        </p:nvSpPr>
        <p:spPr>
          <a:xfrm>
            <a:off x="5405795" y="3614738"/>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C2C4B5"/>
                </a:solidFill>
                <a:latin typeface="Outfit Bold" pitchFamily="34" charset="0"/>
                <a:ea typeface="Outfit Bold" pitchFamily="34" charset="-122"/>
                <a:cs typeface="Outfit Bold" pitchFamily="34" charset="-120"/>
              </a:rPr>
              <a:t>Pod-Level Setting</a:t>
            </a:r>
            <a:endParaRPr lang="en-US" sz="1950" dirty="0"/>
          </a:p>
        </p:txBody>
      </p:sp>
      <p:sp>
        <p:nvSpPr>
          <p:cNvPr id="9" name="Text 7"/>
          <p:cNvSpPr/>
          <p:nvPr/>
        </p:nvSpPr>
        <p:spPr>
          <a:xfrm>
            <a:off x="5405795" y="4043958"/>
            <a:ext cx="3818692" cy="1587698"/>
          </a:xfrm>
          <a:prstGeom prst="rect">
            <a:avLst/>
          </a:prstGeom>
          <a:noFill/>
          <a:ln/>
        </p:spPr>
        <p:txBody>
          <a:bodyPr wrap="square" lIns="0" tIns="0" rIns="0" bIns="0" rtlCol="0" anchor="t"/>
          <a:lstStyle/>
          <a:p>
            <a:pPr algn="l" indent="0" marL="0">
              <a:lnSpc>
                <a:spcPts val="2500"/>
              </a:lnSpc>
              <a:buNone/>
            </a:pPr>
            <a:r>
              <a:rPr lang="en-US" sz="1550" dirty="0">
                <a:solidFill>
                  <a:srgbClr val="C2C4B5"/>
                </a:solidFill>
                <a:latin typeface="Bitter" pitchFamily="34" charset="0"/>
                <a:ea typeface="Bitter" pitchFamily="34" charset="-122"/>
                <a:cs typeface="Bitter" pitchFamily="34" charset="-120"/>
              </a:rPr>
              <a:t>Unlike taints which are node-level, tolerations are defined in pod specifications, giving you fine-grained control over which pods can access which nodes.</a:t>
            </a:r>
            <a:endParaRPr lang="en-US" sz="1550" dirty="0"/>
          </a:p>
        </p:txBody>
      </p:sp>
      <p:sp>
        <p:nvSpPr>
          <p:cNvPr id="10" name="Shape 8"/>
          <p:cNvSpPr/>
          <p:nvPr/>
        </p:nvSpPr>
        <p:spPr>
          <a:xfrm>
            <a:off x="9621203" y="3416379"/>
            <a:ext cx="4215289" cy="2413635"/>
          </a:xfrm>
          <a:prstGeom prst="roundRect">
            <a:avLst>
              <a:gd name="adj" fmla="val 1233"/>
            </a:avLst>
          </a:prstGeom>
          <a:solidFill>
            <a:srgbClr val="3B3C3E"/>
          </a:solidFill>
          <a:ln/>
        </p:spPr>
      </p:sp>
      <p:sp>
        <p:nvSpPr>
          <p:cNvPr id="11" name="Text 9"/>
          <p:cNvSpPr/>
          <p:nvPr/>
        </p:nvSpPr>
        <p:spPr>
          <a:xfrm>
            <a:off x="9819561" y="3614738"/>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C2C4B5"/>
                </a:solidFill>
                <a:latin typeface="Outfit Bold" pitchFamily="34" charset="0"/>
                <a:ea typeface="Outfit Bold" pitchFamily="34" charset="-122"/>
                <a:cs typeface="Outfit Bold" pitchFamily="34" charset="-120"/>
              </a:rPr>
              <a:t>Matching Logic</a:t>
            </a:r>
            <a:endParaRPr lang="en-US" sz="1950" dirty="0"/>
          </a:p>
        </p:txBody>
      </p:sp>
      <p:sp>
        <p:nvSpPr>
          <p:cNvPr id="12" name="Text 10"/>
          <p:cNvSpPr/>
          <p:nvPr/>
        </p:nvSpPr>
        <p:spPr>
          <a:xfrm>
            <a:off x="9819561" y="4043958"/>
            <a:ext cx="3818573" cy="1270159"/>
          </a:xfrm>
          <a:prstGeom prst="rect">
            <a:avLst/>
          </a:prstGeom>
          <a:noFill/>
          <a:ln/>
        </p:spPr>
        <p:txBody>
          <a:bodyPr wrap="square" lIns="0" tIns="0" rIns="0" bIns="0" rtlCol="0" anchor="t"/>
          <a:lstStyle/>
          <a:p>
            <a:pPr algn="l" indent="0" marL="0">
              <a:lnSpc>
                <a:spcPts val="2500"/>
              </a:lnSpc>
              <a:buNone/>
            </a:pPr>
            <a:r>
              <a:rPr lang="en-US" sz="1550" dirty="0">
                <a:solidFill>
                  <a:srgbClr val="C2C4B5"/>
                </a:solidFill>
                <a:latin typeface="Bitter" pitchFamily="34" charset="0"/>
                <a:ea typeface="Bitter" pitchFamily="34" charset="-122"/>
                <a:cs typeface="Bitter" pitchFamily="34" charset="-120"/>
              </a:rPr>
              <a:t>Tolerations use key-value-operator combinations to match specific taints. Understanding this matching logic is absolutely crucial for the CKA exam!</a:t>
            </a:r>
            <a:endParaRPr lang="en-US" sz="1550" dirty="0"/>
          </a:p>
        </p:txBody>
      </p:sp>
      <p:sp>
        <p:nvSpPr>
          <p:cNvPr id="13" name="Text 11"/>
          <p:cNvSpPr/>
          <p:nvPr/>
        </p:nvSpPr>
        <p:spPr>
          <a:xfrm>
            <a:off x="793790" y="6053257"/>
            <a:ext cx="13042821" cy="635079"/>
          </a:xfrm>
          <a:prstGeom prst="rect">
            <a:avLst/>
          </a:prstGeom>
          <a:noFill/>
          <a:ln/>
        </p:spPr>
        <p:txBody>
          <a:bodyPr wrap="square" lIns="0" tIns="0" rIns="0" bIns="0" rtlCol="0" anchor="t"/>
          <a:lstStyle/>
          <a:p>
            <a:pPr algn="l" indent="0" marL="0">
              <a:lnSpc>
                <a:spcPts val="2500"/>
              </a:lnSpc>
              <a:buNone/>
            </a:pPr>
            <a:r>
              <a:rPr lang="en-US" sz="1550" b="1" dirty="0">
                <a:solidFill>
                  <a:srgbClr val="C2C4B5"/>
                </a:solidFill>
                <a:latin typeface="Bitter" pitchFamily="34" charset="0"/>
                <a:ea typeface="Bitter" pitchFamily="34" charset="-122"/>
                <a:cs typeface="Bitter" pitchFamily="34" charset="-120"/>
              </a:rPr>
              <a:t>Real-world analogy:</a:t>
            </a:r>
            <a:pPr algn="l" indent="0" marL="0">
              <a:lnSpc>
                <a:spcPts val="2500"/>
              </a:lnSpc>
              <a:buNone/>
            </a:pPr>
            <a:r>
              <a:rPr lang="en-US" sz="1550" dirty="0">
                <a:solidFill>
                  <a:srgbClr val="C2C4B5"/>
                </a:solidFill>
                <a:latin typeface="Bitter" pitchFamily="34" charset="0"/>
                <a:ea typeface="Bitter" pitchFamily="34" charset="-122"/>
                <a:cs typeface="Bitter" pitchFamily="34" charset="-120"/>
              </a:rPr>
              <a:t> Think of taints as "VIP Only" signs on restaurant doors. Tolerations are the equivalent of having a VIP pass - it doesn't guarantee you'll go to that restaurant, but it means you're allowed entry if that's where the scheduler decides to place you.</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0932" y="551140"/>
            <a:ext cx="7764780" cy="556141"/>
          </a:xfrm>
          <a:prstGeom prst="rect">
            <a:avLst/>
          </a:prstGeom>
          <a:noFill/>
          <a:ln/>
        </p:spPr>
        <p:txBody>
          <a:bodyPr wrap="none" lIns="0" tIns="0" rIns="0" bIns="0" rtlCol="0" anchor="t"/>
          <a:lstStyle/>
          <a:p>
            <a:pPr algn="l" indent="0" marL="0">
              <a:lnSpc>
                <a:spcPts val="4350"/>
              </a:lnSpc>
              <a:buNone/>
            </a:pPr>
            <a:r>
              <a:rPr lang="en-US" sz="3500" b="1" dirty="0">
                <a:solidFill>
                  <a:srgbClr val="E1E5CD"/>
                </a:solidFill>
                <a:latin typeface="Outfit Bold" pitchFamily="34" charset="0"/>
                <a:ea typeface="Outfit Bold" pitchFamily="34" charset="-122"/>
                <a:cs typeface="Outfit Bold" pitchFamily="34" charset="-120"/>
              </a:rPr>
              <a:t>Taints vs Tolerations: The Relationship</a:t>
            </a:r>
            <a:endParaRPr lang="en-US" sz="3500" dirty="0"/>
          </a:p>
        </p:txBody>
      </p:sp>
      <p:sp>
        <p:nvSpPr>
          <p:cNvPr id="3" name="Text 1"/>
          <p:cNvSpPr/>
          <p:nvPr/>
        </p:nvSpPr>
        <p:spPr>
          <a:xfrm>
            <a:off x="790932" y="1426369"/>
            <a:ext cx="13048536" cy="270034"/>
          </a:xfrm>
          <a:prstGeom prst="rect">
            <a:avLst/>
          </a:prstGeom>
          <a:noFill/>
          <a:ln/>
        </p:spPr>
        <p:txBody>
          <a:bodyPr wrap="none" lIns="0" tIns="0" rIns="0" bIns="0" rtlCol="0" anchor="t"/>
          <a:lstStyle/>
          <a:p>
            <a:pPr algn="l" indent="0" marL="0">
              <a:lnSpc>
                <a:spcPts val="2100"/>
              </a:lnSpc>
              <a:buNone/>
            </a:pPr>
            <a:r>
              <a:rPr lang="en-US" sz="1400" dirty="0">
                <a:solidFill>
                  <a:srgbClr val="C2C4B5"/>
                </a:solidFill>
                <a:latin typeface="Bitter" pitchFamily="34" charset="0"/>
                <a:ea typeface="Bitter" pitchFamily="34" charset="-122"/>
                <a:cs typeface="Bitter" pitchFamily="34" charset="-120"/>
              </a:rPr>
              <a:t>Understanding the relationship between taints and tolerations is fundamental to Kubernetes scheduling. Let's explore how they work together:</a:t>
            </a:r>
            <a:endParaRPr lang="en-US" sz="1400" dirty="0"/>
          </a:p>
        </p:txBody>
      </p:sp>
      <p:pic>
        <p:nvPicPr>
          <p:cNvPr id="4" name="Image 0" descr="preencoded.png">    </p:cNvPr>
          <p:cNvPicPr>
            <a:picLocks noChangeAspect="1"/>
          </p:cNvPicPr>
          <p:nvPr/>
        </p:nvPicPr>
        <p:blipFill>
          <a:blip r:embed="rId1"/>
          <a:stretch>
            <a:fillRect/>
          </a:stretch>
        </p:blipFill>
        <p:spPr>
          <a:xfrm>
            <a:off x="790932" y="1875830"/>
            <a:ext cx="4349472" cy="711756"/>
          </a:xfrm>
          <a:prstGeom prst="rect">
            <a:avLst/>
          </a:prstGeom>
        </p:spPr>
      </p:pic>
      <p:sp>
        <p:nvSpPr>
          <p:cNvPr id="5" name="Text 2"/>
          <p:cNvSpPr/>
          <p:nvPr/>
        </p:nvSpPr>
        <p:spPr>
          <a:xfrm>
            <a:off x="968812" y="2747129"/>
            <a:ext cx="2224564" cy="278011"/>
          </a:xfrm>
          <a:prstGeom prst="rect">
            <a:avLst/>
          </a:prstGeom>
          <a:noFill/>
          <a:ln/>
        </p:spPr>
        <p:txBody>
          <a:bodyPr wrap="none" lIns="0" tIns="0" rIns="0" bIns="0" rtlCol="0" anchor="t"/>
          <a:lstStyle/>
          <a:p>
            <a:pPr algn="l" indent="0" marL="0">
              <a:lnSpc>
                <a:spcPts val="2150"/>
              </a:lnSpc>
              <a:buNone/>
            </a:pPr>
            <a:r>
              <a:rPr lang="en-US" sz="1750" b="1" dirty="0">
                <a:solidFill>
                  <a:srgbClr val="C2C4B5"/>
                </a:solidFill>
                <a:latin typeface="Outfit Bold" pitchFamily="34" charset="0"/>
                <a:ea typeface="Outfit Bold" pitchFamily="34" charset="-122"/>
                <a:cs typeface="Outfit Bold" pitchFamily="34" charset="-120"/>
              </a:rPr>
              <a:t>Node Taint Applied</a:t>
            </a:r>
            <a:endParaRPr lang="en-US" sz="1750" dirty="0"/>
          </a:p>
        </p:txBody>
      </p:sp>
      <p:sp>
        <p:nvSpPr>
          <p:cNvPr id="6" name="Text 3"/>
          <p:cNvSpPr/>
          <p:nvPr/>
        </p:nvSpPr>
        <p:spPr>
          <a:xfrm>
            <a:off x="968812" y="3120866"/>
            <a:ext cx="3993713" cy="547688"/>
          </a:xfrm>
          <a:prstGeom prst="rect">
            <a:avLst/>
          </a:prstGeom>
          <a:noFill/>
          <a:ln/>
        </p:spPr>
        <p:txBody>
          <a:bodyPr wrap="square" lIns="0" tIns="0" rIns="0" bIns="0" rtlCol="0" anchor="t"/>
          <a:lstStyle/>
          <a:p>
            <a:pPr algn="l" indent="0" marL="0">
              <a:lnSpc>
                <a:spcPts val="2100"/>
              </a:lnSpc>
              <a:buNone/>
            </a:pPr>
            <a:r>
              <a:rPr lang="en-US" sz="1400" dirty="0">
                <a:solidFill>
                  <a:srgbClr val="C2C4B5"/>
                </a:solidFill>
                <a:latin typeface="Bitter" pitchFamily="34" charset="0"/>
                <a:ea typeface="Bitter" pitchFamily="34" charset="-122"/>
                <a:cs typeface="Bitter" pitchFamily="34" charset="-120"/>
              </a:rPr>
              <a:t>Administrator marks node with taint (e.g., </a:t>
            </a:r>
            <a:pPr algn="l" indent="0" marL="0">
              <a:lnSpc>
                <a:spcPts val="2100"/>
              </a:lnSpc>
              <a:buNone/>
            </a:pPr>
            <a:r>
              <a:rPr lang="en-US" sz="1400" dirty="0">
                <a:solidFill>
                  <a:srgbClr val="C2C4B5"/>
                </a:solidFill>
                <a:highlight>
                  <a:srgbClr val="292A2C"/>
                </a:highlight>
                <a:latin typeface="Consolas" pitchFamily="34" charset="0"/>
                <a:ea typeface="Consolas" pitchFamily="34" charset="-122"/>
                <a:cs typeface="Consolas" pitchFamily="34" charset="-120"/>
              </a:rPr>
              <a:t>dedicated=frontend:NoSchedule</a:t>
            </a:r>
            <a:pPr algn="l" indent="0" marL="0">
              <a:lnSpc>
                <a:spcPts val="2100"/>
              </a:lnSpc>
              <a:buNone/>
            </a:pPr>
            <a:r>
              <a:rPr lang="en-US" sz="1400" dirty="0">
                <a:solidFill>
                  <a:srgbClr val="C2C4B5"/>
                </a:solidFill>
                <a:latin typeface="Bitter" pitchFamily="34" charset="0"/>
                <a:ea typeface="Bitter" pitchFamily="34" charset="-122"/>
                <a:cs typeface="Bitter" pitchFamily="34" charset="-120"/>
              </a:rPr>
              <a:t>)</a:t>
            </a:r>
            <a:endParaRPr lang="en-US" sz="1400" dirty="0"/>
          </a:p>
        </p:txBody>
      </p:sp>
      <p:pic>
        <p:nvPicPr>
          <p:cNvPr id="7" name="Image 1" descr="preencoded.png">    </p:cNvPr>
          <p:cNvPicPr>
            <a:picLocks noChangeAspect="1"/>
          </p:cNvPicPr>
          <p:nvPr/>
        </p:nvPicPr>
        <p:blipFill>
          <a:blip r:embed="rId2"/>
          <a:stretch>
            <a:fillRect/>
          </a:stretch>
        </p:blipFill>
        <p:spPr>
          <a:xfrm>
            <a:off x="5140404" y="1875830"/>
            <a:ext cx="4349472" cy="711756"/>
          </a:xfrm>
          <a:prstGeom prst="rect">
            <a:avLst/>
          </a:prstGeom>
        </p:spPr>
      </p:pic>
      <p:sp>
        <p:nvSpPr>
          <p:cNvPr id="8" name="Text 4"/>
          <p:cNvSpPr/>
          <p:nvPr/>
        </p:nvSpPr>
        <p:spPr>
          <a:xfrm>
            <a:off x="5318284" y="2747129"/>
            <a:ext cx="2224564" cy="278011"/>
          </a:xfrm>
          <a:prstGeom prst="rect">
            <a:avLst/>
          </a:prstGeom>
          <a:noFill/>
          <a:ln/>
        </p:spPr>
        <p:txBody>
          <a:bodyPr wrap="none" lIns="0" tIns="0" rIns="0" bIns="0" rtlCol="0" anchor="t"/>
          <a:lstStyle/>
          <a:p>
            <a:pPr algn="l" indent="0" marL="0">
              <a:lnSpc>
                <a:spcPts val="2150"/>
              </a:lnSpc>
              <a:buNone/>
            </a:pPr>
            <a:r>
              <a:rPr lang="en-US" sz="1750" b="1" dirty="0">
                <a:solidFill>
                  <a:srgbClr val="C2C4B5"/>
                </a:solidFill>
                <a:latin typeface="Outfit Bold" pitchFamily="34" charset="0"/>
                <a:ea typeface="Outfit Bold" pitchFamily="34" charset="-122"/>
                <a:cs typeface="Outfit Bold" pitchFamily="34" charset="-120"/>
              </a:rPr>
              <a:t>Pod Creation</a:t>
            </a:r>
            <a:endParaRPr lang="en-US" sz="1750" dirty="0"/>
          </a:p>
        </p:txBody>
      </p:sp>
      <p:sp>
        <p:nvSpPr>
          <p:cNvPr id="9" name="Text 5"/>
          <p:cNvSpPr/>
          <p:nvPr/>
        </p:nvSpPr>
        <p:spPr>
          <a:xfrm>
            <a:off x="5318284" y="3120866"/>
            <a:ext cx="3993713" cy="540068"/>
          </a:xfrm>
          <a:prstGeom prst="rect">
            <a:avLst/>
          </a:prstGeom>
          <a:noFill/>
          <a:ln/>
        </p:spPr>
        <p:txBody>
          <a:bodyPr wrap="square" lIns="0" tIns="0" rIns="0" bIns="0" rtlCol="0" anchor="t"/>
          <a:lstStyle/>
          <a:p>
            <a:pPr algn="l" indent="0" marL="0">
              <a:lnSpc>
                <a:spcPts val="2100"/>
              </a:lnSpc>
              <a:buNone/>
            </a:pPr>
            <a:r>
              <a:rPr lang="en-US" sz="1400" dirty="0">
                <a:solidFill>
                  <a:srgbClr val="C2C4B5"/>
                </a:solidFill>
                <a:latin typeface="Bitter" pitchFamily="34" charset="0"/>
                <a:ea typeface="Bitter" pitchFamily="34" charset="-122"/>
                <a:cs typeface="Bitter" pitchFamily="34" charset="-120"/>
              </a:rPr>
              <a:t>Pod specification includes toleration matching the taint</a:t>
            </a:r>
            <a:endParaRPr lang="en-US" sz="1400" dirty="0"/>
          </a:p>
        </p:txBody>
      </p:sp>
      <p:pic>
        <p:nvPicPr>
          <p:cNvPr id="10" name="Image 2" descr="preencoded.png">    </p:cNvPr>
          <p:cNvPicPr>
            <a:picLocks noChangeAspect="1"/>
          </p:cNvPicPr>
          <p:nvPr/>
        </p:nvPicPr>
        <p:blipFill>
          <a:blip r:embed="rId3"/>
          <a:stretch>
            <a:fillRect/>
          </a:stretch>
        </p:blipFill>
        <p:spPr>
          <a:xfrm>
            <a:off x="9489877" y="1875830"/>
            <a:ext cx="4349591" cy="711756"/>
          </a:xfrm>
          <a:prstGeom prst="rect">
            <a:avLst/>
          </a:prstGeom>
        </p:spPr>
      </p:pic>
      <p:sp>
        <p:nvSpPr>
          <p:cNvPr id="11" name="Text 6"/>
          <p:cNvSpPr/>
          <p:nvPr/>
        </p:nvSpPr>
        <p:spPr>
          <a:xfrm>
            <a:off x="9667756" y="2747129"/>
            <a:ext cx="2224564" cy="278011"/>
          </a:xfrm>
          <a:prstGeom prst="rect">
            <a:avLst/>
          </a:prstGeom>
          <a:noFill/>
          <a:ln/>
        </p:spPr>
        <p:txBody>
          <a:bodyPr wrap="none" lIns="0" tIns="0" rIns="0" bIns="0" rtlCol="0" anchor="t"/>
          <a:lstStyle/>
          <a:p>
            <a:pPr algn="l" indent="0" marL="0">
              <a:lnSpc>
                <a:spcPts val="2150"/>
              </a:lnSpc>
              <a:buNone/>
            </a:pPr>
            <a:r>
              <a:rPr lang="en-US" sz="1750" b="1" dirty="0">
                <a:solidFill>
                  <a:srgbClr val="C2C4B5"/>
                </a:solidFill>
                <a:latin typeface="Outfit Bold" pitchFamily="34" charset="0"/>
                <a:ea typeface="Outfit Bold" pitchFamily="34" charset="-122"/>
                <a:cs typeface="Outfit Bold" pitchFamily="34" charset="-120"/>
              </a:rPr>
              <a:t>Scheduler Decision</a:t>
            </a:r>
            <a:endParaRPr lang="en-US" sz="1750" dirty="0"/>
          </a:p>
        </p:txBody>
      </p:sp>
      <p:sp>
        <p:nvSpPr>
          <p:cNvPr id="12" name="Text 7"/>
          <p:cNvSpPr/>
          <p:nvPr/>
        </p:nvSpPr>
        <p:spPr>
          <a:xfrm>
            <a:off x="9667756" y="3120866"/>
            <a:ext cx="3993832" cy="540068"/>
          </a:xfrm>
          <a:prstGeom prst="rect">
            <a:avLst/>
          </a:prstGeom>
          <a:noFill/>
          <a:ln/>
        </p:spPr>
        <p:txBody>
          <a:bodyPr wrap="square" lIns="0" tIns="0" rIns="0" bIns="0" rtlCol="0" anchor="t"/>
          <a:lstStyle/>
          <a:p>
            <a:pPr algn="l" indent="0" marL="0">
              <a:lnSpc>
                <a:spcPts val="2100"/>
              </a:lnSpc>
              <a:buNone/>
            </a:pPr>
            <a:r>
              <a:rPr lang="en-US" sz="1400" dirty="0">
                <a:solidFill>
                  <a:srgbClr val="C2C4B5"/>
                </a:solidFill>
                <a:latin typeface="Bitter" pitchFamily="34" charset="0"/>
                <a:ea typeface="Bitter" pitchFamily="34" charset="-122"/>
                <a:cs typeface="Bitter" pitchFamily="34" charset="-120"/>
              </a:rPr>
              <a:t>Kubernetes checks if pod toleration matches node taint - if yes, scheduling proceeds</a:t>
            </a:r>
            <a:endParaRPr lang="en-US" sz="1400" dirty="0"/>
          </a:p>
        </p:txBody>
      </p:sp>
      <p:sp>
        <p:nvSpPr>
          <p:cNvPr id="13" name="Text 8"/>
          <p:cNvSpPr/>
          <p:nvPr/>
        </p:nvSpPr>
        <p:spPr>
          <a:xfrm>
            <a:off x="790932" y="4185404"/>
            <a:ext cx="2224564" cy="278011"/>
          </a:xfrm>
          <a:prstGeom prst="rect">
            <a:avLst/>
          </a:prstGeom>
          <a:noFill/>
          <a:ln/>
        </p:spPr>
        <p:txBody>
          <a:bodyPr wrap="none" lIns="0" tIns="0" rIns="0" bIns="0" rtlCol="0" anchor="t"/>
          <a:lstStyle/>
          <a:p>
            <a:pPr algn="l" indent="0" marL="0">
              <a:lnSpc>
                <a:spcPts val="2150"/>
              </a:lnSpc>
              <a:buNone/>
            </a:pPr>
            <a:r>
              <a:rPr lang="en-US" sz="1750" b="1" dirty="0">
                <a:solidFill>
                  <a:srgbClr val="E1E5CD"/>
                </a:solidFill>
                <a:latin typeface="Outfit Bold" pitchFamily="34" charset="0"/>
                <a:ea typeface="Outfit Bold" pitchFamily="34" charset="-122"/>
                <a:cs typeface="Outfit Bold" pitchFamily="34" charset="-120"/>
              </a:rPr>
              <a:t>Key Points</a:t>
            </a:r>
            <a:endParaRPr lang="en-US" sz="1750" dirty="0"/>
          </a:p>
        </p:txBody>
      </p:sp>
      <p:sp>
        <p:nvSpPr>
          <p:cNvPr id="14" name="Text 9"/>
          <p:cNvSpPr/>
          <p:nvPr/>
        </p:nvSpPr>
        <p:spPr>
          <a:xfrm>
            <a:off x="790932" y="4622959"/>
            <a:ext cx="6307217" cy="1843564"/>
          </a:xfrm>
          <a:prstGeom prst="rect">
            <a:avLst/>
          </a:prstGeom>
          <a:noFill/>
          <a:ln/>
        </p:spPr>
        <p:txBody>
          <a:bodyPr wrap="square" lIns="0" tIns="0" rIns="0" bIns="0" rtlCol="0" anchor="t"/>
          <a:lstStyle/>
          <a:p>
            <a:pPr algn="l" marL="342900" indent="-342900">
              <a:lnSpc>
                <a:spcPts val="2100"/>
              </a:lnSpc>
              <a:buSzPct val="100000"/>
              <a:buChar char="•"/>
            </a:pPr>
            <a:r>
              <a:rPr lang="en-US" sz="1400" dirty="0">
                <a:solidFill>
                  <a:srgbClr val="C2C4B5"/>
                </a:solidFill>
                <a:latin typeface="Bitter" pitchFamily="34" charset="0"/>
                <a:ea typeface="Bitter" pitchFamily="34" charset="-122"/>
                <a:cs typeface="Bitter" pitchFamily="34" charset="-120"/>
              </a:rPr>
              <a:t>Taints </a:t>
            </a:r>
            <a:pPr algn="l" indent="0" marL="0">
              <a:lnSpc>
                <a:spcPts val="2100"/>
              </a:lnSpc>
              <a:buNone/>
            </a:pPr>
            <a:r>
              <a:rPr lang="en-US" sz="1400" b="1" dirty="0">
                <a:solidFill>
                  <a:srgbClr val="9FA582"/>
                </a:solidFill>
                <a:latin typeface="Bitter" pitchFamily="34" charset="0"/>
                <a:ea typeface="Bitter" pitchFamily="34" charset="-122"/>
                <a:cs typeface="Bitter" pitchFamily="34" charset="-120"/>
              </a:rPr>
              <a:t>repel</a:t>
            </a:r>
            <a:pPr algn="l" indent="0" marL="0">
              <a:lnSpc>
                <a:spcPts val="2100"/>
              </a:lnSpc>
              <a:buNone/>
            </a:pPr>
            <a:r>
              <a:rPr lang="en-US" sz="1400" dirty="0">
                <a:solidFill>
                  <a:srgbClr val="C2C4B5"/>
                </a:solidFill>
                <a:latin typeface="Bitter" pitchFamily="34" charset="0"/>
                <a:ea typeface="Bitter" pitchFamily="34" charset="-122"/>
                <a:cs typeface="Bitter" pitchFamily="34" charset="-120"/>
              </a:rPr>
              <a:t> pods by default</a:t>
            </a:r>
            <a:endParaRPr lang="en-US" sz="1400" dirty="0"/>
          </a:p>
          <a:p>
            <a:pPr algn="l" marL="342900" indent="-342900">
              <a:lnSpc>
                <a:spcPts val="2100"/>
              </a:lnSpc>
              <a:buSzPct val="100000"/>
              <a:buChar char="•"/>
            </a:pPr>
            <a:r>
              <a:rPr lang="en-US" sz="1400" dirty="0">
                <a:solidFill>
                  <a:srgbClr val="C2C4B5"/>
                </a:solidFill>
                <a:latin typeface="Bitter" pitchFamily="34" charset="0"/>
                <a:ea typeface="Bitter" pitchFamily="34" charset="-122"/>
                <a:cs typeface="Bitter" pitchFamily="34" charset="-120"/>
              </a:rPr>
              <a:t>Tolerations </a:t>
            </a:r>
            <a:pPr algn="l" indent="0" marL="0">
              <a:lnSpc>
                <a:spcPts val="2100"/>
              </a:lnSpc>
              <a:buNone/>
            </a:pPr>
            <a:r>
              <a:rPr lang="en-US" sz="1400" b="1" dirty="0">
                <a:solidFill>
                  <a:srgbClr val="9FA582"/>
                </a:solidFill>
                <a:latin typeface="Bitter" pitchFamily="34" charset="0"/>
                <a:ea typeface="Bitter" pitchFamily="34" charset="-122"/>
                <a:cs typeface="Bitter" pitchFamily="34" charset="-120"/>
              </a:rPr>
              <a:t>allow</a:t>
            </a:r>
            <a:pPr algn="l" indent="0" marL="0">
              <a:lnSpc>
                <a:spcPts val="2100"/>
              </a:lnSpc>
              <a:buNone/>
            </a:pPr>
            <a:r>
              <a:rPr lang="en-US" sz="1400" dirty="0">
                <a:solidFill>
                  <a:srgbClr val="C2C4B5"/>
                </a:solidFill>
                <a:latin typeface="Bitter" pitchFamily="34" charset="0"/>
                <a:ea typeface="Bitter" pitchFamily="34" charset="-122"/>
                <a:cs typeface="Bitter" pitchFamily="34" charset="-120"/>
              </a:rPr>
              <a:t> specific pods to ignore the repulsion</a:t>
            </a:r>
            <a:endParaRPr lang="en-US" sz="1400" dirty="0"/>
          </a:p>
          <a:p>
            <a:pPr algn="l" marL="342900" indent="-342900">
              <a:lnSpc>
                <a:spcPts val="2100"/>
              </a:lnSpc>
              <a:buSzPct val="100000"/>
              <a:buChar char="•"/>
            </a:pPr>
            <a:r>
              <a:rPr lang="en-US" sz="1400" dirty="0">
                <a:solidFill>
                  <a:srgbClr val="C2C4B5"/>
                </a:solidFill>
                <a:latin typeface="Bitter" pitchFamily="34" charset="0"/>
                <a:ea typeface="Bitter" pitchFamily="34" charset="-122"/>
                <a:cs typeface="Bitter" pitchFamily="34" charset="-120"/>
              </a:rPr>
              <a:t>Multiple taints require multiple matching tolerations (OR logic)</a:t>
            </a:r>
            <a:endParaRPr lang="en-US" sz="1400" dirty="0"/>
          </a:p>
          <a:p>
            <a:pPr algn="l" marL="342900" indent="-342900">
              <a:lnSpc>
                <a:spcPts val="2100"/>
              </a:lnSpc>
              <a:buSzPct val="100000"/>
              <a:buChar char="•"/>
            </a:pPr>
            <a:r>
              <a:rPr lang="en-US" sz="1400" dirty="0">
                <a:solidFill>
                  <a:srgbClr val="C2C4B5"/>
                </a:solidFill>
                <a:latin typeface="Bitter" pitchFamily="34" charset="0"/>
                <a:ea typeface="Bitter" pitchFamily="34" charset="-122"/>
                <a:cs typeface="Bitter" pitchFamily="34" charset="-120"/>
              </a:rPr>
              <a:t>Without matching tolerations, pods cannot schedule on tainted nodes</a:t>
            </a:r>
            <a:endParaRPr lang="en-US" sz="1400" dirty="0"/>
          </a:p>
          <a:p>
            <a:pPr algn="l" marL="342900" indent="-342900">
              <a:lnSpc>
                <a:spcPts val="2100"/>
              </a:lnSpc>
              <a:buSzPct val="100000"/>
              <a:buChar char="•"/>
            </a:pPr>
            <a:r>
              <a:rPr lang="en-US" sz="1400" dirty="0">
                <a:solidFill>
                  <a:srgbClr val="C2C4B5"/>
                </a:solidFill>
                <a:latin typeface="Bitter" pitchFamily="34" charset="0"/>
                <a:ea typeface="Bitter" pitchFamily="34" charset="-122"/>
                <a:cs typeface="Bitter" pitchFamily="34" charset="-120"/>
              </a:rPr>
              <a:t>Tolerations don't guarantee scheduling - just permission to be considered</a:t>
            </a:r>
            <a:endParaRPr lang="en-US" sz="1400" dirty="0"/>
          </a:p>
        </p:txBody>
      </p:sp>
      <p:sp>
        <p:nvSpPr>
          <p:cNvPr id="15" name="Text 10"/>
          <p:cNvSpPr/>
          <p:nvPr/>
        </p:nvSpPr>
        <p:spPr>
          <a:xfrm>
            <a:off x="7539871" y="4185404"/>
            <a:ext cx="2224564" cy="278011"/>
          </a:xfrm>
          <a:prstGeom prst="rect">
            <a:avLst/>
          </a:prstGeom>
          <a:noFill/>
          <a:ln/>
        </p:spPr>
        <p:txBody>
          <a:bodyPr wrap="none" lIns="0" tIns="0" rIns="0" bIns="0" rtlCol="0" anchor="t"/>
          <a:lstStyle/>
          <a:p>
            <a:pPr algn="l" indent="0" marL="0">
              <a:lnSpc>
                <a:spcPts val="2150"/>
              </a:lnSpc>
              <a:buNone/>
            </a:pPr>
            <a:r>
              <a:rPr lang="en-US" sz="1750" b="1" dirty="0">
                <a:solidFill>
                  <a:srgbClr val="E1E5CD"/>
                </a:solidFill>
                <a:latin typeface="Outfit Bold" pitchFamily="34" charset="0"/>
                <a:ea typeface="Outfit Bold" pitchFamily="34" charset="-122"/>
                <a:cs typeface="Outfit Bold" pitchFamily="34" charset="-120"/>
              </a:rPr>
              <a:t>Common Patterns</a:t>
            </a:r>
            <a:endParaRPr lang="en-US" sz="1750" dirty="0"/>
          </a:p>
        </p:txBody>
      </p:sp>
      <p:sp>
        <p:nvSpPr>
          <p:cNvPr id="16" name="Text 11"/>
          <p:cNvSpPr/>
          <p:nvPr/>
        </p:nvSpPr>
        <p:spPr>
          <a:xfrm>
            <a:off x="7539871" y="4622959"/>
            <a:ext cx="6307217" cy="1255276"/>
          </a:xfrm>
          <a:prstGeom prst="rect">
            <a:avLst/>
          </a:prstGeom>
          <a:noFill/>
          <a:ln/>
        </p:spPr>
        <p:txBody>
          <a:bodyPr wrap="square" lIns="0" tIns="0" rIns="0" bIns="0" rtlCol="0" anchor="t"/>
          <a:lstStyle/>
          <a:p>
            <a:pPr algn="l" marL="342900" indent="-342900">
              <a:lnSpc>
                <a:spcPts val="2100"/>
              </a:lnSpc>
              <a:buSzPct val="100000"/>
              <a:buChar char="•"/>
            </a:pPr>
            <a:r>
              <a:rPr lang="en-US" sz="1400" b="1" dirty="0">
                <a:solidFill>
                  <a:srgbClr val="C2C4B5"/>
                </a:solidFill>
                <a:latin typeface="Bitter" pitchFamily="34" charset="0"/>
                <a:ea typeface="Bitter" pitchFamily="34" charset="-122"/>
                <a:cs typeface="Bitter" pitchFamily="34" charset="-120"/>
              </a:rPr>
              <a:t>System pods:</a:t>
            </a:r>
            <a:pPr algn="l" indent="0" marL="0">
              <a:lnSpc>
                <a:spcPts val="2100"/>
              </a:lnSpc>
              <a:buNone/>
            </a:pPr>
            <a:r>
              <a:rPr lang="en-US" sz="1400" dirty="0">
                <a:solidFill>
                  <a:srgbClr val="C2C4B5"/>
                </a:solidFill>
                <a:latin typeface="Bitter" pitchFamily="34" charset="0"/>
                <a:ea typeface="Bitter" pitchFamily="34" charset="-122"/>
                <a:cs typeface="Bitter" pitchFamily="34" charset="-120"/>
              </a:rPr>
              <a:t> Tolerate master node taints automatically</a:t>
            </a:r>
            <a:endParaRPr lang="en-US" sz="1400" dirty="0"/>
          </a:p>
          <a:p>
            <a:pPr algn="l" marL="342900" indent="-342900">
              <a:lnSpc>
                <a:spcPts val="2100"/>
              </a:lnSpc>
              <a:buSzPct val="100000"/>
              <a:buChar char="•"/>
            </a:pPr>
            <a:r>
              <a:rPr lang="en-US" sz="1400" b="1" dirty="0">
                <a:solidFill>
                  <a:srgbClr val="C2C4B5"/>
                </a:solidFill>
                <a:latin typeface="Bitter" pitchFamily="34" charset="0"/>
                <a:ea typeface="Bitter" pitchFamily="34" charset="-122"/>
                <a:cs typeface="Bitter" pitchFamily="34" charset="-120"/>
              </a:rPr>
              <a:t>Hardware-specific:</a:t>
            </a:r>
            <a:pPr algn="l" indent="0" marL="0">
              <a:lnSpc>
                <a:spcPts val="2100"/>
              </a:lnSpc>
              <a:buNone/>
            </a:pPr>
            <a:r>
              <a:rPr lang="en-US" sz="1400" dirty="0">
                <a:solidFill>
                  <a:srgbClr val="C2C4B5"/>
                </a:solidFill>
                <a:latin typeface="Bitter" pitchFamily="34" charset="0"/>
                <a:ea typeface="Bitter" pitchFamily="34" charset="-122"/>
                <a:cs typeface="Bitter" pitchFamily="34" charset="-120"/>
              </a:rPr>
              <a:t> Taint nodes by GPU type, toleration matches</a:t>
            </a:r>
            <a:endParaRPr lang="en-US" sz="1400" dirty="0"/>
          </a:p>
          <a:p>
            <a:pPr algn="l" marL="342900" indent="-342900">
              <a:lnSpc>
                <a:spcPts val="2100"/>
              </a:lnSpc>
              <a:buSzPct val="100000"/>
              <a:buChar char="•"/>
            </a:pPr>
            <a:r>
              <a:rPr lang="en-US" sz="1400" b="1" dirty="0">
                <a:solidFill>
                  <a:srgbClr val="C2C4B5"/>
                </a:solidFill>
                <a:latin typeface="Bitter" pitchFamily="34" charset="0"/>
                <a:ea typeface="Bitter" pitchFamily="34" charset="-122"/>
                <a:cs typeface="Bitter" pitchFamily="34" charset="-120"/>
              </a:rPr>
              <a:t>Maintenance:</a:t>
            </a:r>
            <a:pPr algn="l" indent="0" marL="0">
              <a:lnSpc>
                <a:spcPts val="2100"/>
              </a:lnSpc>
              <a:buNone/>
            </a:pPr>
            <a:r>
              <a:rPr lang="en-US" sz="1400" dirty="0">
                <a:solidFill>
                  <a:srgbClr val="C2C4B5"/>
                </a:solidFill>
                <a:latin typeface="Bitter" pitchFamily="34" charset="0"/>
                <a:ea typeface="Bitter" pitchFamily="34" charset="-122"/>
                <a:cs typeface="Bitter" pitchFamily="34" charset="-120"/>
              </a:rPr>
              <a:t> Temporarily taint nodes with </a:t>
            </a:r>
            <a:pPr algn="l" indent="0" marL="0">
              <a:lnSpc>
                <a:spcPts val="2100"/>
              </a:lnSpc>
              <a:buNone/>
            </a:pPr>
            <a:r>
              <a:rPr lang="en-US" sz="1400" dirty="0">
                <a:solidFill>
                  <a:srgbClr val="C2C4B5"/>
                </a:solidFill>
                <a:highlight>
                  <a:srgbClr val="292A2C"/>
                </a:highlight>
                <a:latin typeface="Consolas" pitchFamily="34" charset="0"/>
                <a:ea typeface="Consolas" pitchFamily="34" charset="-122"/>
                <a:cs typeface="Consolas" pitchFamily="34" charset="-120"/>
              </a:rPr>
              <a:t>NoSchedule</a:t>
            </a:r>
            <a:endParaRPr lang="en-US" sz="1400" dirty="0"/>
          </a:p>
          <a:p>
            <a:pPr algn="l" marL="342900" indent="-342900">
              <a:lnSpc>
                <a:spcPts val="2100"/>
              </a:lnSpc>
              <a:buSzPct val="100000"/>
              <a:buChar char="•"/>
            </a:pPr>
            <a:r>
              <a:rPr lang="en-US" sz="1400" b="1" dirty="0">
                <a:solidFill>
                  <a:srgbClr val="C2C4B5"/>
                </a:solidFill>
                <a:latin typeface="Bitter" pitchFamily="34" charset="0"/>
                <a:ea typeface="Bitter" pitchFamily="34" charset="-122"/>
                <a:cs typeface="Bitter" pitchFamily="34" charset="-120"/>
              </a:rPr>
              <a:t>Security:</a:t>
            </a:r>
            <a:pPr algn="l" indent="0" marL="0">
              <a:lnSpc>
                <a:spcPts val="2100"/>
              </a:lnSpc>
              <a:buNone/>
            </a:pPr>
            <a:r>
              <a:rPr lang="en-US" sz="1400" dirty="0">
                <a:solidFill>
                  <a:srgbClr val="C2C4B5"/>
                </a:solidFill>
                <a:latin typeface="Bitter" pitchFamily="34" charset="0"/>
                <a:ea typeface="Bitter" pitchFamily="34" charset="-122"/>
                <a:cs typeface="Bitter" pitchFamily="34" charset="-120"/>
              </a:rPr>
              <a:t> Separate workloads by security level</a:t>
            </a:r>
            <a:endParaRPr lang="en-US" sz="1400" dirty="0"/>
          </a:p>
        </p:txBody>
      </p:sp>
      <p:sp>
        <p:nvSpPr>
          <p:cNvPr id="17" name="Shape 12"/>
          <p:cNvSpPr/>
          <p:nvPr/>
        </p:nvSpPr>
        <p:spPr>
          <a:xfrm>
            <a:off x="790932" y="6701790"/>
            <a:ext cx="13048536" cy="976551"/>
          </a:xfrm>
          <a:prstGeom prst="roundRect">
            <a:avLst>
              <a:gd name="adj" fmla="val 2734"/>
            </a:avLst>
          </a:prstGeom>
          <a:solidFill>
            <a:srgbClr val="2A2C20"/>
          </a:solidFill>
          <a:ln/>
        </p:spPr>
      </p:sp>
      <p:pic>
        <p:nvPicPr>
          <p:cNvPr id="18" name="Image 3" descr="preencoded.png">    </p:cNvPr>
          <p:cNvPicPr>
            <a:picLocks noChangeAspect="1"/>
          </p:cNvPicPr>
          <p:nvPr/>
        </p:nvPicPr>
        <p:blipFill>
          <a:blip r:embed="rId4"/>
          <a:stretch>
            <a:fillRect/>
          </a:stretch>
        </p:blipFill>
        <p:spPr>
          <a:xfrm>
            <a:off x="968812" y="6958846"/>
            <a:ext cx="222409" cy="177879"/>
          </a:xfrm>
          <a:prstGeom prst="rect">
            <a:avLst/>
          </a:prstGeom>
        </p:spPr>
      </p:pic>
      <p:sp>
        <p:nvSpPr>
          <p:cNvPr id="19" name="Text 13"/>
          <p:cNvSpPr/>
          <p:nvPr/>
        </p:nvSpPr>
        <p:spPr>
          <a:xfrm>
            <a:off x="1369100" y="6905744"/>
            <a:ext cx="12292489" cy="540068"/>
          </a:xfrm>
          <a:prstGeom prst="rect">
            <a:avLst/>
          </a:prstGeom>
          <a:noFill/>
          <a:ln/>
        </p:spPr>
        <p:txBody>
          <a:bodyPr wrap="square" lIns="0" tIns="0" rIns="0" bIns="0" rtlCol="0" anchor="t"/>
          <a:lstStyle/>
          <a:p>
            <a:pPr algn="l" indent="0" marL="0">
              <a:lnSpc>
                <a:spcPts val="2100"/>
              </a:lnSpc>
              <a:buNone/>
            </a:pPr>
            <a:r>
              <a:rPr lang="en-US" sz="1400" b="1" dirty="0">
                <a:solidFill>
                  <a:srgbClr val="FFFFFF"/>
                </a:solidFill>
                <a:latin typeface="Bitter" pitchFamily="34" charset="0"/>
                <a:ea typeface="Bitter" pitchFamily="34" charset="-122"/>
                <a:cs typeface="Bitter" pitchFamily="34" charset="-120"/>
              </a:rPr>
              <a:t>CKA Focus:</a:t>
            </a:r>
            <a:pPr algn="l" indent="0" marL="0">
              <a:lnSpc>
                <a:spcPts val="2100"/>
              </a:lnSpc>
              <a:buNone/>
            </a:pPr>
            <a:r>
              <a:rPr lang="en-US" sz="1400" dirty="0">
                <a:solidFill>
                  <a:srgbClr val="FFFFFF"/>
                </a:solidFill>
                <a:latin typeface="Bitter" pitchFamily="34" charset="0"/>
                <a:ea typeface="Bitter" pitchFamily="34" charset="-122"/>
                <a:cs typeface="Bitter" pitchFamily="34" charset="-120"/>
              </a:rPr>
              <a:t> You must understand that taints are applied to nodes whilst tolerations are defined in pod specs. Mixing these up is a common exam mistake!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70917"/>
            <a:ext cx="4171236" cy="434102"/>
          </a:xfrm>
          <a:prstGeom prst="rect">
            <a:avLst/>
          </a:prstGeom>
          <a:noFill/>
          <a:ln/>
        </p:spPr>
        <p:txBody>
          <a:bodyPr wrap="none" lIns="0" tIns="0" rIns="0" bIns="0" rtlCol="0" anchor="t"/>
          <a:lstStyle/>
          <a:p>
            <a:pPr algn="l" indent="0" marL="0">
              <a:lnSpc>
                <a:spcPts val="3400"/>
              </a:lnSpc>
              <a:buNone/>
            </a:pPr>
            <a:r>
              <a:rPr lang="en-US" sz="2700" b="1" dirty="0">
                <a:solidFill>
                  <a:srgbClr val="E1E5CD"/>
                </a:solidFill>
                <a:latin typeface="Outfit Bold" pitchFamily="34" charset="0"/>
                <a:ea typeface="Outfit Bold" pitchFamily="34" charset="-122"/>
                <a:cs typeface="Outfit Bold" pitchFamily="34" charset="-120"/>
              </a:rPr>
              <a:t>Toleration Syntax in YAML</a:t>
            </a:r>
            <a:endParaRPr lang="en-US" sz="2700" dirty="0"/>
          </a:p>
        </p:txBody>
      </p:sp>
      <p:sp>
        <p:nvSpPr>
          <p:cNvPr id="3" name="Text 1"/>
          <p:cNvSpPr/>
          <p:nvPr/>
        </p:nvSpPr>
        <p:spPr>
          <a:xfrm>
            <a:off x="793790" y="1299448"/>
            <a:ext cx="13042821" cy="196572"/>
          </a:xfrm>
          <a:prstGeom prst="rect">
            <a:avLst/>
          </a:prstGeom>
          <a:noFill/>
          <a:ln/>
        </p:spPr>
        <p:txBody>
          <a:bodyPr wrap="none" lIns="0" tIns="0" rIns="0" bIns="0" rtlCol="0" anchor="t"/>
          <a:lstStyle/>
          <a:p>
            <a:pPr algn="l" indent="0" marL="0">
              <a:lnSpc>
                <a:spcPts val="1450"/>
              </a:lnSpc>
              <a:buNone/>
            </a:pPr>
            <a:r>
              <a:rPr lang="en-US" sz="1050" dirty="0">
                <a:solidFill>
                  <a:srgbClr val="C2C4B5"/>
                </a:solidFill>
                <a:latin typeface="Bitter" pitchFamily="34" charset="0"/>
                <a:ea typeface="Bitter" pitchFamily="34" charset="-122"/>
                <a:cs typeface="Bitter" pitchFamily="34" charset="-120"/>
              </a:rPr>
              <a:t>Let's examine the exact syntax for defining tolerations in your pod specifications. The toleration block lives under </a:t>
            </a:r>
            <a:pPr algn="l" indent="0" marL="0">
              <a:lnSpc>
                <a:spcPts val="1450"/>
              </a:lnSpc>
              <a:buNone/>
            </a:pPr>
            <a:r>
              <a:rPr lang="en-US" sz="1050" dirty="0">
                <a:solidFill>
                  <a:srgbClr val="C2C4B5"/>
                </a:solidFill>
                <a:highlight>
                  <a:srgbClr val="292A2C"/>
                </a:highlight>
                <a:latin typeface="Consolas" pitchFamily="34" charset="0"/>
                <a:ea typeface="Consolas" pitchFamily="34" charset="-122"/>
                <a:cs typeface="Consolas" pitchFamily="34" charset="-120"/>
              </a:rPr>
              <a:t>spec.containers</a:t>
            </a:r>
            <a:pPr algn="l" indent="0" marL="0">
              <a:lnSpc>
                <a:spcPts val="1450"/>
              </a:lnSpc>
              <a:buNone/>
            </a:pPr>
            <a:r>
              <a:rPr lang="en-US" sz="1050" dirty="0">
                <a:solidFill>
                  <a:srgbClr val="C2C4B5"/>
                </a:solidFill>
                <a:latin typeface="Bitter" pitchFamily="34" charset="0"/>
                <a:ea typeface="Bitter" pitchFamily="34" charset="-122"/>
                <a:cs typeface="Bitter" pitchFamily="34" charset="-120"/>
              </a:rPr>
              <a:t> in your YAML.</a:t>
            </a:r>
            <a:endParaRPr lang="en-US" sz="1050" dirty="0"/>
          </a:p>
        </p:txBody>
      </p:sp>
      <p:sp>
        <p:nvSpPr>
          <p:cNvPr id="4" name="Shape 2"/>
          <p:cNvSpPr/>
          <p:nvPr/>
        </p:nvSpPr>
        <p:spPr>
          <a:xfrm>
            <a:off x="793790" y="1605320"/>
            <a:ext cx="13042821" cy="2734032"/>
          </a:xfrm>
          <a:prstGeom prst="roundRect">
            <a:avLst>
              <a:gd name="adj" fmla="val 762"/>
            </a:avLst>
          </a:prstGeom>
          <a:solidFill>
            <a:srgbClr val="292A2C"/>
          </a:solidFill>
          <a:ln/>
        </p:spPr>
      </p:sp>
      <p:sp>
        <p:nvSpPr>
          <p:cNvPr id="5" name="Shape 3"/>
          <p:cNvSpPr/>
          <p:nvPr/>
        </p:nvSpPr>
        <p:spPr>
          <a:xfrm>
            <a:off x="786884" y="1605320"/>
            <a:ext cx="13056632" cy="2734032"/>
          </a:xfrm>
          <a:prstGeom prst="roundRect">
            <a:avLst>
              <a:gd name="adj" fmla="val 762"/>
            </a:avLst>
          </a:prstGeom>
          <a:solidFill>
            <a:srgbClr val="292A2C"/>
          </a:solidFill>
          <a:ln/>
        </p:spPr>
      </p:sp>
      <p:sp>
        <p:nvSpPr>
          <p:cNvPr id="6" name="Text 4"/>
          <p:cNvSpPr/>
          <p:nvPr/>
        </p:nvSpPr>
        <p:spPr>
          <a:xfrm>
            <a:off x="960477" y="1744147"/>
            <a:ext cx="12709446" cy="2456378"/>
          </a:xfrm>
          <a:prstGeom prst="rect">
            <a:avLst/>
          </a:prstGeom>
          <a:noFill/>
          <a:ln/>
        </p:spPr>
        <p:txBody>
          <a:bodyPr wrap="square" lIns="0" tIns="0" rIns="0" bIns="0" rtlCol="0" anchor="t"/>
          <a:lstStyle/>
          <a:p>
            <a:pPr algn="l" indent="0" marL="0">
              <a:lnSpc>
                <a:spcPts val="1450"/>
              </a:lnSpc>
              <a:buNone/>
            </a:pPr>
            <a:r>
              <a:rPr lang="en-US" sz="1050" dirty="0">
                <a:solidFill>
                  <a:srgbClr val="79C0FF"/>
                </a:solidFill>
                <a:highlight>
                  <a:srgbClr val="292A2C"/>
                </a:highlight>
                <a:latin typeface="Consolas" pitchFamily="34" charset="0"/>
                <a:ea typeface="Consolas" pitchFamily="34" charset="-122"/>
                <a:cs typeface="Consolas" pitchFamily="34" charset="-120"/>
              </a:rPr>
              <a:t>apiVersion: v1</a:t>
            </a:r>
            <a:endParaRPr lang="en-US" sz="1050" dirty="0"/>
          </a:p>
          <a:p>
            <a:pPr algn="l" indent="0" marL="0">
              <a:lnSpc>
                <a:spcPts val="1450"/>
              </a:lnSpc>
              <a:buNone/>
            </a:pPr>
            <a:r>
              <a:rPr lang="en-US" sz="1050" dirty="0">
                <a:solidFill>
                  <a:srgbClr val="79C0FF"/>
                </a:solidFill>
                <a:highlight>
                  <a:srgbClr val="292A2C"/>
                </a:highlight>
                <a:latin typeface="Consolas" pitchFamily="34" charset="0"/>
                <a:ea typeface="Consolas" pitchFamily="34" charset="-122"/>
                <a:cs typeface="Consolas" pitchFamily="34" charset="-120"/>
              </a:rPr>
              <a:t>kind: Pod</a:t>
            </a:r>
            <a:endParaRPr lang="en-US" sz="1050" dirty="0"/>
          </a:p>
          <a:p>
            <a:pPr algn="l" indent="0" marL="0">
              <a:lnSpc>
                <a:spcPts val="1450"/>
              </a:lnSpc>
              <a:buNone/>
            </a:pPr>
            <a:r>
              <a:rPr lang="en-US" sz="1050" dirty="0">
                <a:solidFill>
                  <a:srgbClr val="79C0FF"/>
                </a:solidFill>
                <a:highlight>
                  <a:srgbClr val="292A2C"/>
                </a:highlight>
                <a:latin typeface="Consolas" pitchFamily="34" charset="0"/>
                <a:ea typeface="Consolas" pitchFamily="34" charset="-122"/>
                <a:cs typeface="Consolas" pitchFamily="34" charset="-120"/>
              </a:rPr>
              <a:t>metadata:</a:t>
            </a:r>
            <a:endParaRPr lang="en-US" sz="1050" dirty="0"/>
          </a:p>
          <a:p>
            <a:pPr algn="l" indent="0" marL="0">
              <a:lnSpc>
                <a:spcPts val="1450"/>
              </a:lnSpc>
              <a:buNone/>
            </a:pPr>
            <a:r>
              <a:rPr lang="en-US" sz="1050" dirty="0">
                <a:solidFill>
                  <a:srgbClr val="79C0FF"/>
                </a:solidFill>
                <a:highlight>
                  <a:srgbClr val="292A2C"/>
                </a:highlight>
                <a:latin typeface="Consolas" pitchFamily="34" charset="0"/>
                <a:ea typeface="Consolas" pitchFamily="34" charset="-122"/>
                <a:cs typeface="Consolas" pitchFamily="34" charset="-120"/>
              </a:rPr>
              <a:t>  name: nginx-tolerant</a:t>
            </a:r>
            <a:endParaRPr lang="en-US" sz="1050" dirty="0"/>
          </a:p>
          <a:p>
            <a:pPr algn="l" indent="0" marL="0">
              <a:lnSpc>
                <a:spcPts val="1450"/>
              </a:lnSpc>
              <a:buNone/>
            </a:pPr>
            <a:r>
              <a:rPr lang="en-US" sz="1050" dirty="0">
                <a:solidFill>
                  <a:srgbClr val="79C0FF"/>
                </a:solidFill>
                <a:highlight>
                  <a:srgbClr val="292A2C"/>
                </a:highlight>
                <a:latin typeface="Consolas" pitchFamily="34" charset="0"/>
                <a:ea typeface="Consolas" pitchFamily="34" charset="-122"/>
                <a:cs typeface="Consolas" pitchFamily="34" charset="-120"/>
              </a:rPr>
              <a:t>spec:</a:t>
            </a:r>
            <a:endParaRPr lang="en-US" sz="1050" dirty="0"/>
          </a:p>
          <a:p>
            <a:pPr algn="l" indent="0" marL="0">
              <a:lnSpc>
                <a:spcPts val="1450"/>
              </a:lnSpc>
              <a:buNone/>
            </a:pPr>
            <a:r>
              <a:rPr lang="en-US" sz="1050" dirty="0">
                <a:solidFill>
                  <a:srgbClr val="79C0FF"/>
                </a:solidFill>
                <a:highlight>
                  <a:srgbClr val="292A2C"/>
                </a:highlight>
                <a:latin typeface="Consolas" pitchFamily="34" charset="0"/>
                <a:ea typeface="Consolas" pitchFamily="34" charset="-122"/>
                <a:cs typeface="Consolas" pitchFamily="34" charset="-120"/>
              </a:rPr>
              <a:t>  containers:</a:t>
            </a:r>
            <a:endParaRPr lang="en-US" sz="1050" dirty="0"/>
          </a:p>
          <a:p>
            <a:pPr algn="l" indent="0" marL="0">
              <a:lnSpc>
                <a:spcPts val="1450"/>
              </a:lnSpc>
              <a:buNone/>
            </a:pPr>
            <a:r>
              <a:rPr lang="en-US" sz="1050" dirty="0">
                <a:solidFill>
                  <a:srgbClr val="79C0FF"/>
                </a:solidFill>
                <a:highlight>
                  <a:srgbClr val="292A2C"/>
                </a:highlight>
                <a:latin typeface="Consolas" pitchFamily="34" charset="0"/>
                <a:ea typeface="Consolas" pitchFamily="34" charset="-122"/>
                <a:cs typeface="Consolas" pitchFamily="34" charset="-120"/>
              </a:rPr>
              <a:t>  - name: nginx</a:t>
            </a:r>
            <a:endParaRPr lang="en-US" sz="1050" dirty="0"/>
          </a:p>
          <a:p>
            <a:pPr algn="l" indent="0" marL="0">
              <a:lnSpc>
                <a:spcPts val="1450"/>
              </a:lnSpc>
              <a:buNone/>
            </a:pPr>
            <a:r>
              <a:rPr lang="en-US" sz="1050" dirty="0">
                <a:solidFill>
                  <a:srgbClr val="79C0FF"/>
                </a:solidFill>
                <a:highlight>
                  <a:srgbClr val="292A2C"/>
                </a:highlight>
                <a:latin typeface="Consolas" pitchFamily="34" charset="0"/>
                <a:ea typeface="Consolas" pitchFamily="34" charset="-122"/>
                <a:cs typeface="Consolas" pitchFamily="34" charset="-120"/>
              </a:rPr>
              <a:t>    image: nginx</a:t>
            </a:r>
            <a:endParaRPr lang="en-US" sz="1050" dirty="0"/>
          </a:p>
          <a:p>
            <a:pPr algn="l" indent="0" marL="0">
              <a:lnSpc>
                <a:spcPts val="1450"/>
              </a:lnSpc>
              <a:buNone/>
            </a:pPr>
            <a:r>
              <a:rPr lang="en-US" sz="1050" dirty="0">
                <a:solidFill>
                  <a:srgbClr val="79C0FF"/>
                </a:solidFill>
                <a:highlight>
                  <a:srgbClr val="292A2C"/>
                </a:highlight>
                <a:latin typeface="Consolas" pitchFamily="34" charset="0"/>
                <a:ea typeface="Consolas" pitchFamily="34" charset="-122"/>
                <a:cs typeface="Consolas" pitchFamily="34" charset="-120"/>
              </a:rPr>
              <a:t>  tolerations:</a:t>
            </a:r>
            <a:endParaRPr lang="en-US" sz="1050" dirty="0"/>
          </a:p>
          <a:p>
            <a:pPr algn="l" indent="0" marL="0">
              <a:lnSpc>
                <a:spcPts val="1450"/>
              </a:lnSpc>
              <a:buNone/>
            </a:pPr>
            <a:r>
              <a:rPr lang="en-US" sz="1050" dirty="0">
                <a:solidFill>
                  <a:srgbClr val="79C0FF"/>
                </a:solidFill>
                <a:highlight>
                  <a:srgbClr val="292A2C"/>
                </a:highlight>
                <a:latin typeface="Consolas" pitchFamily="34" charset="0"/>
                <a:ea typeface="Consolas" pitchFamily="34" charset="-122"/>
                <a:cs typeface="Consolas" pitchFamily="34" charset="-120"/>
              </a:rPr>
              <a:t>  - key: "dedicated"</a:t>
            </a:r>
            <a:endParaRPr lang="en-US" sz="1050" dirty="0"/>
          </a:p>
          <a:p>
            <a:pPr algn="l" indent="0" marL="0">
              <a:lnSpc>
                <a:spcPts val="1450"/>
              </a:lnSpc>
              <a:buNone/>
            </a:pPr>
            <a:r>
              <a:rPr lang="en-US" sz="1050" dirty="0">
                <a:solidFill>
                  <a:srgbClr val="79C0FF"/>
                </a:solidFill>
                <a:highlight>
                  <a:srgbClr val="292A2C"/>
                </a:highlight>
                <a:latin typeface="Consolas" pitchFamily="34" charset="0"/>
                <a:ea typeface="Consolas" pitchFamily="34" charset="-122"/>
                <a:cs typeface="Consolas" pitchFamily="34" charset="-120"/>
              </a:rPr>
              <a:t>    operator: "Equal"</a:t>
            </a:r>
            <a:endParaRPr lang="en-US" sz="1050" dirty="0"/>
          </a:p>
          <a:p>
            <a:pPr algn="l" indent="0" marL="0">
              <a:lnSpc>
                <a:spcPts val="1450"/>
              </a:lnSpc>
              <a:buNone/>
            </a:pPr>
            <a:r>
              <a:rPr lang="en-US" sz="1050" dirty="0">
                <a:solidFill>
                  <a:srgbClr val="79C0FF"/>
                </a:solidFill>
                <a:highlight>
                  <a:srgbClr val="292A2C"/>
                </a:highlight>
                <a:latin typeface="Consolas" pitchFamily="34" charset="0"/>
                <a:ea typeface="Consolas" pitchFamily="34" charset="-122"/>
                <a:cs typeface="Consolas" pitchFamily="34" charset="-120"/>
              </a:rPr>
              <a:t>    value: "frontend"</a:t>
            </a:r>
            <a:endParaRPr lang="en-US" sz="1050" dirty="0"/>
          </a:p>
          <a:p>
            <a:pPr algn="l" indent="0" marL="0">
              <a:lnSpc>
                <a:spcPts val="1450"/>
              </a:lnSpc>
              <a:buNone/>
            </a:pPr>
            <a:r>
              <a:rPr lang="en-US" sz="1050" dirty="0">
                <a:solidFill>
                  <a:srgbClr val="79C0FF"/>
                </a:solidFill>
                <a:highlight>
                  <a:srgbClr val="292A2C"/>
                </a:highlight>
                <a:latin typeface="Consolas" pitchFamily="34" charset="0"/>
                <a:ea typeface="Consolas" pitchFamily="34" charset="-122"/>
                <a:cs typeface="Consolas" pitchFamily="34" charset="-120"/>
              </a:rPr>
              <a:t>    effect: "NoSchedule"</a:t>
            </a:r>
            <a:endParaRPr lang="en-US" sz="1050" dirty="0"/>
          </a:p>
        </p:txBody>
      </p:sp>
      <p:sp>
        <p:nvSpPr>
          <p:cNvPr id="7" name="Text 5"/>
          <p:cNvSpPr/>
          <p:nvPr/>
        </p:nvSpPr>
        <p:spPr>
          <a:xfrm>
            <a:off x="793790" y="4545806"/>
            <a:ext cx="1804154" cy="217051"/>
          </a:xfrm>
          <a:prstGeom prst="rect">
            <a:avLst/>
          </a:prstGeom>
          <a:noFill/>
          <a:ln/>
        </p:spPr>
        <p:txBody>
          <a:bodyPr wrap="none" lIns="0" tIns="0" rIns="0" bIns="0" rtlCol="0" anchor="t"/>
          <a:lstStyle/>
          <a:p>
            <a:pPr algn="l" indent="0" marL="0">
              <a:lnSpc>
                <a:spcPts val="1700"/>
              </a:lnSpc>
              <a:buNone/>
            </a:pPr>
            <a:r>
              <a:rPr lang="en-US" sz="1350" b="1" dirty="0">
                <a:solidFill>
                  <a:srgbClr val="E1E5CD"/>
                </a:solidFill>
                <a:latin typeface="Outfit Bold" pitchFamily="34" charset="0"/>
                <a:ea typeface="Outfit Bold" pitchFamily="34" charset="-122"/>
                <a:cs typeface="Outfit Bold" pitchFamily="34" charset="-120"/>
              </a:rPr>
              <a:t>YAML Fields Explained</a:t>
            </a:r>
            <a:endParaRPr lang="en-US" sz="1350" dirty="0"/>
          </a:p>
        </p:txBody>
      </p:sp>
      <p:sp>
        <p:nvSpPr>
          <p:cNvPr id="8" name="Text 6"/>
          <p:cNvSpPr/>
          <p:nvPr/>
        </p:nvSpPr>
        <p:spPr>
          <a:xfrm>
            <a:off x="793790" y="4860012"/>
            <a:ext cx="6351984" cy="188952"/>
          </a:xfrm>
          <a:prstGeom prst="rect">
            <a:avLst/>
          </a:prstGeom>
          <a:noFill/>
          <a:ln/>
        </p:spPr>
        <p:txBody>
          <a:bodyPr wrap="none" lIns="0" tIns="0" rIns="0" bIns="0" rtlCol="0" anchor="t"/>
          <a:lstStyle/>
          <a:p>
            <a:pPr algn="l" indent="0" marL="0">
              <a:lnSpc>
                <a:spcPts val="1450"/>
              </a:lnSpc>
              <a:buNone/>
            </a:pPr>
            <a:r>
              <a:rPr lang="en-US" sz="1050" b="1" dirty="0">
                <a:solidFill>
                  <a:srgbClr val="C2C4B5"/>
                </a:solidFill>
                <a:latin typeface="Bitter" pitchFamily="34" charset="0"/>
                <a:ea typeface="Bitter" pitchFamily="34" charset="-122"/>
                <a:cs typeface="Bitter" pitchFamily="34" charset="-120"/>
              </a:rPr>
              <a:t>key:</a:t>
            </a:r>
            <a:pPr algn="l" indent="0" marL="0">
              <a:lnSpc>
                <a:spcPts val="1450"/>
              </a:lnSpc>
              <a:buNone/>
            </a:pPr>
            <a:r>
              <a:rPr lang="en-US" sz="1050" dirty="0">
                <a:solidFill>
                  <a:srgbClr val="C2C4B5"/>
                </a:solidFill>
                <a:latin typeface="Bitter" pitchFamily="34" charset="0"/>
                <a:ea typeface="Bitter" pitchFamily="34" charset="-122"/>
                <a:cs typeface="Bitter" pitchFamily="34" charset="-120"/>
              </a:rPr>
              <a:t> The taint key to match. Required field.</a:t>
            </a:r>
            <a:endParaRPr lang="en-US" sz="1050" dirty="0"/>
          </a:p>
        </p:txBody>
      </p:sp>
      <p:sp>
        <p:nvSpPr>
          <p:cNvPr id="9" name="Text 7"/>
          <p:cNvSpPr/>
          <p:nvPr/>
        </p:nvSpPr>
        <p:spPr>
          <a:xfrm>
            <a:off x="793790" y="5136475"/>
            <a:ext cx="6351984" cy="196572"/>
          </a:xfrm>
          <a:prstGeom prst="rect">
            <a:avLst/>
          </a:prstGeom>
          <a:noFill/>
          <a:ln/>
        </p:spPr>
        <p:txBody>
          <a:bodyPr wrap="none" lIns="0" tIns="0" rIns="0" bIns="0" rtlCol="0" anchor="t"/>
          <a:lstStyle/>
          <a:p>
            <a:pPr algn="l" indent="0" marL="0">
              <a:lnSpc>
                <a:spcPts val="1450"/>
              </a:lnSpc>
              <a:buNone/>
            </a:pPr>
            <a:r>
              <a:rPr lang="en-US" sz="1050" b="1" dirty="0">
                <a:solidFill>
                  <a:srgbClr val="C2C4B5"/>
                </a:solidFill>
                <a:latin typeface="Bitter" pitchFamily="34" charset="0"/>
                <a:ea typeface="Bitter" pitchFamily="34" charset="-122"/>
                <a:cs typeface="Bitter" pitchFamily="34" charset="-120"/>
              </a:rPr>
              <a:t>operator:</a:t>
            </a:r>
            <a:pPr algn="l" indent="0" marL="0">
              <a:lnSpc>
                <a:spcPts val="1450"/>
              </a:lnSpc>
              <a:buNone/>
            </a:pPr>
            <a:r>
              <a:rPr lang="en-US" sz="1050" dirty="0">
                <a:solidFill>
                  <a:srgbClr val="C2C4B5"/>
                </a:solidFill>
                <a:latin typeface="Bitter" pitchFamily="34" charset="0"/>
                <a:ea typeface="Bitter" pitchFamily="34" charset="-122"/>
                <a:cs typeface="Bitter" pitchFamily="34" charset="-120"/>
              </a:rPr>
              <a:t> How to match the value. Can be </a:t>
            </a:r>
            <a:pPr algn="l" indent="0" marL="0">
              <a:lnSpc>
                <a:spcPts val="1450"/>
              </a:lnSpc>
              <a:buNone/>
            </a:pPr>
            <a:r>
              <a:rPr lang="en-US" sz="1050" dirty="0">
                <a:solidFill>
                  <a:srgbClr val="C2C4B5"/>
                </a:solidFill>
                <a:highlight>
                  <a:srgbClr val="292A2C"/>
                </a:highlight>
                <a:latin typeface="Consolas" pitchFamily="34" charset="0"/>
                <a:ea typeface="Consolas" pitchFamily="34" charset="-122"/>
                <a:cs typeface="Consolas" pitchFamily="34" charset="-120"/>
              </a:rPr>
              <a:t>Equal</a:t>
            </a:r>
            <a:pPr algn="l" indent="0" marL="0">
              <a:lnSpc>
                <a:spcPts val="1450"/>
              </a:lnSpc>
              <a:buNone/>
            </a:pPr>
            <a:r>
              <a:rPr lang="en-US" sz="1050" dirty="0">
                <a:solidFill>
                  <a:srgbClr val="C2C4B5"/>
                </a:solidFill>
                <a:latin typeface="Bitter" pitchFamily="34" charset="0"/>
                <a:ea typeface="Bitter" pitchFamily="34" charset="-122"/>
                <a:cs typeface="Bitter" pitchFamily="34" charset="-120"/>
              </a:rPr>
              <a:t> or </a:t>
            </a:r>
            <a:pPr algn="l" indent="0" marL="0">
              <a:lnSpc>
                <a:spcPts val="1450"/>
              </a:lnSpc>
              <a:buNone/>
            </a:pPr>
            <a:r>
              <a:rPr lang="en-US" sz="1050" dirty="0">
                <a:solidFill>
                  <a:srgbClr val="C2C4B5"/>
                </a:solidFill>
                <a:highlight>
                  <a:srgbClr val="292A2C"/>
                </a:highlight>
                <a:latin typeface="Consolas" pitchFamily="34" charset="0"/>
                <a:ea typeface="Consolas" pitchFamily="34" charset="-122"/>
                <a:cs typeface="Consolas" pitchFamily="34" charset="-120"/>
              </a:rPr>
              <a:t>Exists</a:t>
            </a:r>
            <a:pPr algn="l" indent="0" marL="0">
              <a:lnSpc>
                <a:spcPts val="1450"/>
              </a:lnSpc>
              <a:buNone/>
            </a:pPr>
            <a:r>
              <a:rPr lang="en-US" sz="1050" dirty="0">
                <a:solidFill>
                  <a:srgbClr val="C2C4B5"/>
                </a:solidFill>
                <a:latin typeface="Bitter" pitchFamily="34" charset="0"/>
                <a:ea typeface="Bitter" pitchFamily="34" charset="-122"/>
                <a:cs typeface="Bitter" pitchFamily="34" charset="-120"/>
              </a:rPr>
              <a:t>.</a:t>
            </a:r>
            <a:endParaRPr lang="en-US" sz="1050" dirty="0"/>
          </a:p>
        </p:txBody>
      </p:sp>
      <p:sp>
        <p:nvSpPr>
          <p:cNvPr id="10" name="Text 8"/>
          <p:cNvSpPr/>
          <p:nvPr/>
        </p:nvSpPr>
        <p:spPr>
          <a:xfrm>
            <a:off x="793790" y="5420558"/>
            <a:ext cx="6351984" cy="196572"/>
          </a:xfrm>
          <a:prstGeom prst="rect">
            <a:avLst/>
          </a:prstGeom>
          <a:noFill/>
          <a:ln/>
        </p:spPr>
        <p:txBody>
          <a:bodyPr wrap="none" lIns="0" tIns="0" rIns="0" bIns="0" rtlCol="0" anchor="t"/>
          <a:lstStyle/>
          <a:p>
            <a:pPr algn="l" indent="0" marL="0">
              <a:lnSpc>
                <a:spcPts val="1450"/>
              </a:lnSpc>
              <a:buNone/>
            </a:pPr>
            <a:r>
              <a:rPr lang="en-US" sz="1050" b="1" dirty="0">
                <a:solidFill>
                  <a:srgbClr val="C2C4B5"/>
                </a:solidFill>
                <a:latin typeface="Bitter" pitchFamily="34" charset="0"/>
                <a:ea typeface="Bitter" pitchFamily="34" charset="-122"/>
                <a:cs typeface="Bitter" pitchFamily="34" charset="-120"/>
              </a:rPr>
              <a:t>value:</a:t>
            </a:r>
            <a:pPr algn="l" indent="0" marL="0">
              <a:lnSpc>
                <a:spcPts val="1450"/>
              </a:lnSpc>
              <a:buNone/>
            </a:pPr>
            <a:r>
              <a:rPr lang="en-US" sz="1050" dirty="0">
                <a:solidFill>
                  <a:srgbClr val="C2C4B5"/>
                </a:solidFill>
                <a:latin typeface="Bitter" pitchFamily="34" charset="0"/>
                <a:ea typeface="Bitter" pitchFamily="34" charset="-122"/>
                <a:cs typeface="Bitter" pitchFamily="34" charset="-120"/>
              </a:rPr>
              <a:t> The taint value to match. Optional if operator is </a:t>
            </a:r>
            <a:pPr algn="l" indent="0" marL="0">
              <a:lnSpc>
                <a:spcPts val="1450"/>
              </a:lnSpc>
              <a:buNone/>
            </a:pPr>
            <a:r>
              <a:rPr lang="en-US" sz="1050" dirty="0">
                <a:solidFill>
                  <a:srgbClr val="C2C4B5"/>
                </a:solidFill>
                <a:highlight>
                  <a:srgbClr val="292A2C"/>
                </a:highlight>
                <a:latin typeface="Consolas" pitchFamily="34" charset="0"/>
                <a:ea typeface="Consolas" pitchFamily="34" charset="-122"/>
                <a:cs typeface="Consolas" pitchFamily="34" charset="-120"/>
              </a:rPr>
              <a:t>Exists</a:t>
            </a:r>
            <a:pPr algn="l" indent="0" marL="0">
              <a:lnSpc>
                <a:spcPts val="1450"/>
              </a:lnSpc>
              <a:buNone/>
            </a:pPr>
            <a:r>
              <a:rPr lang="en-US" sz="1050" dirty="0">
                <a:solidFill>
                  <a:srgbClr val="C2C4B5"/>
                </a:solidFill>
                <a:latin typeface="Bitter" pitchFamily="34" charset="0"/>
                <a:ea typeface="Bitter" pitchFamily="34" charset="-122"/>
                <a:cs typeface="Bitter" pitchFamily="34" charset="-120"/>
              </a:rPr>
              <a:t>.</a:t>
            </a:r>
            <a:endParaRPr lang="en-US" sz="1050" dirty="0"/>
          </a:p>
        </p:txBody>
      </p:sp>
      <p:sp>
        <p:nvSpPr>
          <p:cNvPr id="11" name="Text 9"/>
          <p:cNvSpPr/>
          <p:nvPr/>
        </p:nvSpPr>
        <p:spPr>
          <a:xfrm>
            <a:off x="793790" y="5704642"/>
            <a:ext cx="6351984" cy="188952"/>
          </a:xfrm>
          <a:prstGeom prst="rect">
            <a:avLst/>
          </a:prstGeom>
          <a:noFill/>
          <a:ln/>
        </p:spPr>
        <p:txBody>
          <a:bodyPr wrap="none" lIns="0" tIns="0" rIns="0" bIns="0" rtlCol="0" anchor="t"/>
          <a:lstStyle/>
          <a:p>
            <a:pPr algn="l" indent="0" marL="0">
              <a:lnSpc>
                <a:spcPts val="1450"/>
              </a:lnSpc>
              <a:buNone/>
            </a:pPr>
            <a:r>
              <a:rPr lang="en-US" sz="1050" b="1" dirty="0">
                <a:solidFill>
                  <a:srgbClr val="C2C4B5"/>
                </a:solidFill>
                <a:latin typeface="Bitter" pitchFamily="34" charset="0"/>
                <a:ea typeface="Bitter" pitchFamily="34" charset="-122"/>
                <a:cs typeface="Bitter" pitchFamily="34" charset="-120"/>
              </a:rPr>
              <a:t>effect:</a:t>
            </a:r>
            <a:pPr algn="l" indent="0" marL="0">
              <a:lnSpc>
                <a:spcPts val="1450"/>
              </a:lnSpc>
              <a:buNone/>
            </a:pPr>
            <a:r>
              <a:rPr lang="en-US" sz="1050" dirty="0">
                <a:solidFill>
                  <a:srgbClr val="C2C4B5"/>
                </a:solidFill>
                <a:latin typeface="Bitter" pitchFamily="34" charset="0"/>
                <a:ea typeface="Bitter" pitchFamily="34" charset="-122"/>
                <a:cs typeface="Bitter" pitchFamily="34" charset="-120"/>
              </a:rPr>
              <a:t> Which taint effect this toleration matches. Optional - if omitted, matches all effects.</a:t>
            </a:r>
            <a:endParaRPr lang="en-US" sz="1050" dirty="0"/>
          </a:p>
        </p:txBody>
      </p:sp>
      <p:sp>
        <p:nvSpPr>
          <p:cNvPr id="12" name="Text 10"/>
          <p:cNvSpPr/>
          <p:nvPr/>
        </p:nvSpPr>
        <p:spPr>
          <a:xfrm>
            <a:off x="7492246" y="4545806"/>
            <a:ext cx="1736646" cy="217051"/>
          </a:xfrm>
          <a:prstGeom prst="rect">
            <a:avLst/>
          </a:prstGeom>
          <a:noFill/>
          <a:ln/>
        </p:spPr>
        <p:txBody>
          <a:bodyPr wrap="none" lIns="0" tIns="0" rIns="0" bIns="0" rtlCol="0" anchor="t"/>
          <a:lstStyle/>
          <a:p>
            <a:pPr algn="l" indent="0" marL="0">
              <a:lnSpc>
                <a:spcPts val="1700"/>
              </a:lnSpc>
              <a:buNone/>
            </a:pPr>
            <a:r>
              <a:rPr lang="en-US" sz="1350" b="1" dirty="0">
                <a:solidFill>
                  <a:srgbClr val="E1E5CD"/>
                </a:solidFill>
                <a:latin typeface="Outfit Bold" pitchFamily="34" charset="0"/>
                <a:ea typeface="Outfit Bold" pitchFamily="34" charset="-122"/>
                <a:cs typeface="Outfit Bold" pitchFamily="34" charset="-120"/>
              </a:rPr>
              <a:t>Common Variations</a:t>
            </a:r>
            <a:endParaRPr lang="en-US" sz="1350" dirty="0"/>
          </a:p>
        </p:txBody>
      </p:sp>
      <p:sp>
        <p:nvSpPr>
          <p:cNvPr id="13" name="Shape 11"/>
          <p:cNvSpPr/>
          <p:nvPr/>
        </p:nvSpPr>
        <p:spPr>
          <a:xfrm>
            <a:off x="7492246" y="4872157"/>
            <a:ext cx="6351984" cy="1033462"/>
          </a:xfrm>
          <a:prstGeom prst="roundRect">
            <a:avLst>
              <a:gd name="adj" fmla="val 2017"/>
            </a:avLst>
          </a:prstGeom>
          <a:solidFill>
            <a:srgbClr val="292A2C"/>
          </a:solidFill>
          <a:ln/>
        </p:spPr>
      </p:sp>
      <p:sp>
        <p:nvSpPr>
          <p:cNvPr id="14" name="Shape 12"/>
          <p:cNvSpPr/>
          <p:nvPr/>
        </p:nvSpPr>
        <p:spPr>
          <a:xfrm>
            <a:off x="7485340" y="4872157"/>
            <a:ext cx="6365796" cy="1033462"/>
          </a:xfrm>
          <a:prstGeom prst="roundRect">
            <a:avLst>
              <a:gd name="adj" fmla="val 2017"/>
            </a:avLst>
          </a:prstGeom>
          <a:solidFill>
            <a:srgbClr val="292A2C"/>
          </a:solidFill>
          <a:ln/>
        </p:spPr>
      </p:sp>
      <p:sp>
        <p:nvSpPr>
          <p:cNvPr id="15" name="Text 13"/>
          <p:cNvSpPr/>
          <p:nvPr/>
        </p:nvSpPr>
        <p:spPr>
          <a:xfrm>
            <a:off x="7658933" y="5010983"/>
            <a:ext cx="6018609" cy="755809"/>
          </a:xfrm>
          <a:prstGeom prst="rect">
            <a:avLst/>
          </a:prstGeom>
          <a:noFill/>
          <a:ln/>
        </p:spPr>
        <p:txBody>
          <a:bodyPr wrap="square" lIns="0" tIns="0" rIns="0" bIns="0" rtlCol="0" anchor="t"/>
          <a:lstStyle/>
          <a:p>
            <a:pPr algn="l" indent="0" marL="0">
              <a:lnSpc>
                <a:spcPts val="1450"/>
              </a:lnSpc>
              <a:buNone/>
            </a:pPr>
            <a:r>
              <a:rPr lang="en-US" sz="1050" dirty="0">
                <a:solidFill>
                  <a:srgbClr val="C2C4B5"/>
                </a:solidFill>
                <a:latin typeface="Consolas" pitchFamily="34" charset="0"/>
                <a:ea typeface="Consolas" pitchFamily="34" charset="-122"/>
                <a:cs typeface="Consolas" pitchFamily="34" charset="-120"/>
              </a:rPr>
              <a:t>  tolerations:</a:t>
            </a:r>
            <a:endParaRPr lang="en-US" sz="1050" dirty="0"/>
          </a:p>
          <a:p>
            <a:pPr algn="l" indent="0" marL="0">
              <a:lnSpc>
                <a:spcPts val="1450"/>
              </a:lnSpc>
              <a:buNone/>
            </a:pPr>
            <a:r>
              <a:rPr lang="en-US" sz="1050" dirty="0">
                <a:solidFill>
                  <a:srgbClr val="C2C4B5"/>
                </a:solidFill>
                <a:latin typeface="Consolas" pitchFamily="34" charset="0"/>
                <a:ea typeface="Consolas" pitchFamily="34" charset="-122"/>
                <a:cs typeface="Consolas" pitchFamily="34" charset="-120"/>
              </a:rPr>
              <a:t>  - key: "node-role.kubernetes.io/master"</a:t>
            </a:r>
            <a:endParaRPr lang="en-US" sz="1050" dirty="0"/>
          </a:p>
          <a:p>
            <a:pPr algn="l" indent="0" marL="0">
              <a:lnSpc>
                <a:spcPts val="1450"/>
              </a:lnSpc>
              <a:buNone/>
            </a:pPr>
            <a:r>
              <a:rPr lang="en-US" sz="1050" dirty="0">
                <a:solidFill>
                  <a:srgbClr val="C2C4B5"/>
                </a:solidFill>
                <a:latin typeface="Consolas" pitchFamily="34" charset="0"/>
                <a:ea typeface="Consolas" pitchFamily="34" charset="-122"/>
                <a:cs typeface="Consolas" pitchFamily="34" charset="-120"/>
              </a:rPr>
              <a:t>    operator: "Exists"</a:t>
            </a:r>
            <a:endParaRPr lang="en-US" sz="1050" dirty="0"/>
          </a:p>
          <a:p>
            <a:pPr algn="l" indent="0" marL="0">
              <a:lnSpc>
                <a:spcPts val="1450"/>
              </a:lnSpc>
              <a:buNone/>
            </a:pPr>
            <a:r>
              <a:rPr lang="en-US" sz="1050" dirty="0">
                <a:solidFill>
                  <a:srgbClr val="C2C4B5"/>
                </a:solidFill>
                <a:latin typeface="Consolas" pitchFamily="34" charset="0"/>
                <a:ea typeface="Consolas" pitchFamily="34" charset="-122"/>
                <a:cs typeface="Consolas" pitchFamily="34" charset="-120"/>
              </a:rPr>
              <a:t>    effect: "NoSchedule"</a:t>
            </a:r>
            <a:endParaRPr lang="en-US" sz="1050" dirty="0"/>
          </a:p>
        </p:txBody>
      </p:sp>
      <p:sp>
        <p:nvSpPr>
          <p:cNvPr id="16" name="Text 14"/>
          <p:cNvSpPr/>
          <p:nvPr/>
        </p:nvSpPr>
        <p:spPr>
          <a:xfrm>
            <a:off x="7492246" y="6014918"/>
            <a:ext cx="6351984" cy="385524"/>
          </a:xfrm>
          <a:prstGeom prst="rect">
            <a:avLst/>
          </a:prstGeom>
          <a:noFill/>
          <a:ln/>
        </p:spPr>
        <p:txBody>
          <a:bodyPr wrap="square" lIns="0" tIns="0" rIns="0" bIns="0" rtlCol="0" anchor="t"/>
          <a:lstStyle/>
          <a:p>
            <a:pPr algn="l" indent="0" marL="0">
              <a:lnSpc>
                <a:spcPts val="1450"/>
              </a:lnSpc>
              <a:buNone/>
            </a:pPr>
            <a:r>
              <a:rPr lang="en-US" sz="1050" dirty="0">
                <a:solidFill>
                  <a:srgbClr val="C2C4B5"/>
                </a:solidFill>
                <a:latin typeface="Bitter" pitchFamily="34" charset="0"/>
                <a:ea typeface="Bitter" pitchFamily="34" charset="-122"/>
                <a:cs typeface="Bitter" pitchFamily="34" charset="-120"/>
              </a:rPr>
              <a:t>This toleration matches ANY master node taint regardless of value, using the </a:t>
            </a:r>
            <a:pPr algn="l" indent="0" marL="0">
              <a:lnSpc>
                <a:spcPts val="1450"/>
              </a:lnSpc>
              <a:buNone/>
            </a:pPr>
            <a:r>
              <a:rPr lang="en-US" sz="1050" dirty="0">
                <a:solidFill>
                  <a:srgbClr val="C2C4B5"/>
                </a:solidFill>
                <a:highlight>
                  <a:srgbClr val="292A2C"/>
                </a:highlight>
                <a:latin typeface="Consolas" pitchFamily="34" charset="0"/>
                <a:ea typeface="Consolas" pitchFamily="34" charset="-122"/>
                <a:cs typeface="Consolas" pitchFamily="34" charset="-120"/>
              </a:rPr>
              <a:t>Exists</a:t>
            </a:r>
            <a:pPr algn="l" indent="0" marL="0">
              <a:lnSpc>
                <a:spcPts val="1450"/>
              </a:lnSpc>
              <a:buNone/>
            </a:pPr>
            <a:r>
              <a:rPr lang="en-US" sz="1050" dirty="0">
                <a:solidFill>
                  <a:srgbClr val="C2C4B5"/>
                </a:solidFill>
                <a:latin typeface="Bitter" pitchFamily="34" charset="0"/>
                <a:ea typeface="Bitter" pitchFamily="34" charset="-122"/>
                <a:cs typeface="Bitter" pitchFamily="34" charset="-120"/>
              </a:rPr>
              <a:t> operator for flexibility.</a:t>
            </a:r>
            <a:endParaRPr lang="en-US" sz="1050" dirty="0"/>
          </a:p>
        </p:txBody>
      </p:sp>
      <p:sp>
        <p:nvSpPr>
          <p:cNvPr id="17" name="Shape 15"/>
          <p:cNvSpPr/>
          <p:nvPr/>
        </p:nvSpPr>
        <p:spPr>
          <a:xfrm>
            <a:off x="793790" y="6597253"/>
            <a:ext cx="4282797" cy="961430"/>
          </a:xfrm>
          <a:prstGeom prst="roundRect">
            <a:avLst>
              <a:gd name="adj" fmla="val 2168"/>
            </a:avLst>
          </a:prstGeom>
          <a:solidFill>
            <a:srgbClr val="1C1D1F"/>
          </a:solidFill>
          <a:ln w="15240">
            <a:solidFill>
              <a:srgbClr val="545557"/>
            </a:solidFill>
            <a:prstDash val="solid"/>
          </a:ln>
        </p:spPr>
      </p:sp>
      <p:sp>
        <p:nvSpPr>
          <p:cNvPr id="18" name="Text 16"/>
          <p:cNvSpPr/>
          <p:nvPr/>
        </p:nvSpPr>
        <p:spPr>
          <a:xfrm>
            <a:off x="947857" y="6751320"/>
            <a:ext cx="1736646" cy="217051"/>
          </a:xfrm>
          <a:prstGeom prst="rect">
            <a:avLst/>
          </a:prstGeom>
          <a:noFill/>
          <a:ln/>
        </p:spPr>
        <p:txBody>
          <a:bodyPr wrap="none" lIns="0" tIns="0" rIns="0" bIns="0" rtlCol="0" anchor="t"/>
          <a:lstStyle/>
          <a:p>
            <a:pPr algn="l" indent="0" marL="0">
              <a:lnSpc>
                <a:spcPts val="1700"/>
              </a:lnSpc>
              <a:buNone/>
            </a:pPr>
            <a:r>
              <a:rPr lang="en-US" sz="1350" b="1" dirty="0">
                <a:solidFill>
                  <a:srgbClr val="C2C4B5"/>
                </a:solidFill>
                <a:latin typeface="Outfit Bold" pitchFamily="34" charset="0"/>
                <a:ea typeface="Outfit Bold" pitchFamily="34" charset="-122"/>
                <a:cs typeface="Outfit Bold" pitchFamily="34" charset="-120"/>
              </a:rPr>
              <a:t>Key Field</a:t>
            </a:r>
            <a:endParaRPr lang="en-US" sz="1350" dirty="0"/>
          </a:p>
        </p:txBody>
      </p:sp>
      <p:sp>
        <p:nvSpPr>
          <p:cNvPr id="19" name="Text 17"/>
          <p:cNvSpPr/>
          <p:nvPr/>
        </p:nvSpPr>
        <p:spPr>
          <a:xfrm>
            <a:off x="947857" y="7026712"/>
            <a:ext cx="3974663" cy="377904"/>
          </a:xfrm>
          <a:prstGeom prst="rect">
            <a:avLst/>
          </a:prstGeom>
          <a:noFill/>
          <a:ln/>
        </p:spPr>
        <p:txBody>
          <a:bodyPr wrap="square" lIns="0" tIns="0" rIns="0" bIns="0" rtlCol="0" anchor="t"/>
          <a:lstStyle/>
          <a:p>
            <a:pPr algn="l" indent="0" marL="0">
              <a:lnSpc>
                <a:spcPts val="1450"/>
              </a:lnSpc>
              <a:buNone/>
            </a:pPr>
            <a:r>
              <a:rPr lang="en-US" sz="1050" dirty="0">
                <a:solidFill>
                  <a:srgbClr val="C2C4B5"/>
                </a:solidFill>
                <a:latin typeface="Bitter" pitchFamily="34" charset="0"/>
                <a:ea typeface="Bitter" pitchFamily="34" charset="-122"/>
                <a:cs typeface="Bitter" pitchFamily="34" charset="-120"/>
              </a:rPr>
              <a:t>Must match the taint key exactly. Case-sensitive string comparison.</a:t>
            </a:r>
            <a:endParaRPr lang="en-US" sz="1050" dirty="0"/>
          </a:p>
        </p:txBody>
      </p:sp>
      <p:sp>
        <p:nvSpPr>
          <p:cNvPr id="20" name="Shape 18"/>
          <p:cNvSpPr/>
          <p:nvPr/>
        </p:nvSpPr>
        <p:spPr>
          <a:xfrm>
            <a:off x="5173742" y="6597253"/>
            <a:ext cx="4282797" cy="961430"/>
          </a:xfrm>
          <a:prstGeom prst="roundRect">
            <a:avLst>
              <a:gd name="adj" fmla="val 2168"/>
            </a:avLst>
          </a:prstGeom>
          <a:solidFill>
            <a:srgbClr val="1C1D1F"/>
          </a:solidFill>
          <a:ln w="15240">
            <a:solidFill>
              <a:srgbClr val="545557"/>
            </a:solidFill>
            <a:prstDash val="solid"/>
          </a:ln>
        </p:spPr>
      </p:sp>
      <p:sp>
        <p:nvSpPr>
          <p:cNvPr id="21" name="Text 19"/>
          <p:cNvSpPr/>
          <p:nvPr/>
        </p:nvSpPr>
        <p:spPr>
          <a:xfrm>
            <a:off x="5327809" y="6751320"/>
            <a:ext cx="1736646" cy="217051"/>
          </a:xfrm>
          <a:prstGeom prst="rect">
            <a:avLst/>
          </a:prstGeom>
          <a:noFill/>
          <a:ln/>
        </p:spPr>
        <p:txBody>
          <a:bodyPr wrap="none" lIns="0" tIns="0" rIns="0" bIns="0" rtlCol="0" anchor="t"/>
          <a:lstStyle/>
          <a:p>
            <a:pPr algn="l" indent="0" marL="0">
              <a:lnSpc>
                <a:spcPts val="1700"/>
              </a:lnSpc>
              <a:buNone/>
            </a:pPr>
            <a:r>
              <a:rPr lang="en-US" sz="1350" b="1" dirty="0">
                <a:solidFill>
                  <a:srgbClr val="C2C4B5"/>
                </a:solidFill>
                <a:latin typeface="Outfit Bold" pitchFamily="34" charset="0"/>
                <a:ea typeface="Outfit Bold" pitchFamily="34" charset="-122"/>
                <a:cs typeface="Outfit Bold" pitchFamily="34" charset="-120"/>
              </a:rPr>
              <a:t>Operator Field</a:t>
            </a:r>
            <a:endParaRPr lang="en-US" sz="1350" dirty="0"/>
          </a:p>
        </p:txBody>
      </p:sp>
      <p:sp>
        <p:nvSpPr>
          <p:cNvPr id="22" name="Text 20"/>
          <p:cNvSpPr/>
          <p:nvPr/>
        </p:nvSpPr>
        <p:spPr>
          <a:xfrm>
            <a:off x="5327809" y="7026712"/>
            <a:ext cx="3974663" cy="196572"/>
          </a:xfrm>
          <a:prstGeom prst="rect">
            <a:avLst/>
          </a:prstGeom>
          <a:noFill/>
          <a:ln/>
        </p:spPr>
        <p:txBody>
          <a:bodyPr wrap="none" lIns="0" tIns="0" rIns="0" bIns="0" rtlCol="0" anchor="t"/>
          <a:lstStyle/>
          <a:p>
            <a:pPr algn="l" indent="0" marL="0">
              <a:lnSpc>
                <a:spcPts val="1450"/>
              </a:lnSpc>
              <a:buNone/>
            </a:pPr>
            <a:r>
              <a:rPr lang="en-US" sz="1050" dirty="0">
                <a:solidFill>
                  <a:srgbClr val="C2C4B5"/>
                </a:solidFill>
                <a:highlight>
                  <a:srgbClr val="292A2C"/>
                </a:highlight>
                <a:latin typeface="Consolas" pitchFamily="34" charset="0"/>
                <a:ea typeface="Consolas" pitchFamily="34" charset="-122"/>
                <a:cs typeface="Consolas" pitchFamily="34" charset="-120"/>
              </a:rPr>
              <a:t>Equal</a:t>
            </a:r>
            <a:pPr algn="l" indent="0" marL="0">
              <a:lnSpc>
                <a:spcPts val="1450"/>
              </a:lnSpc>
              <a:buNone/>
            </a:pPr>
            <a:r>
              <a:rPr lang="en-US" sz="1050" dirty="0">
                <a:solidFill>
                  <a:srgbClr val="C2C4B5"/>
                </a:solidFill>
                <a:latin typeface="Bitter" pitchFamily="34" charset="0"/>
                <a:ea typeface="Bitter" pitchFamily="34" charset="-122"/>
                <a:cs typeface="Bitter" pitchFamily="34" charset="-120"/>
              </a:rPr>
              <a:t> requires exact value match. </a:t>
            </a:r>
            <a:pPr algn="l" indent="0" marL="0">
              <a:lnSpc>
                <a:spcPts val="1450"/>
              </a:lnSpc>
              <a:buNone/>
            </a:pPr>
            <a:r>
              <a:rPr lang="en-US" sz="1050" dirty="0">
                <a:solidFill>
                  <a:srgbClr val="C2C4B5"/>
                </a:solidFill>
                <a:highlight>
                  <a:srgbClr val="292A2C"/>
                </a:highlight>
                <a:latin typeface="Consolas" pitchFamily="34" charset="0"/>
                <a:ea typeface="Consolas" pitchFamily="34" charset="-122"/>
                <a:cs typeface="Consolas" pitchFamily="34" charset="-120"/>
              </a:rPr>
              <a:t>Exists</a:t>
            </a:r>
            <a:pPr algn="l" indent="0" marL="0">
              <a:lnSpc>
                <a:spcPts val="1450"/>
              </a:lnSpc>
              <a:buNone/>
            </a:pPr>
            <a:r>
              <a:rPr lang="en-US" sz="1050" dirty="0">
                <a:solidFill>
                  <a:srgbClr val="C2C4B5"/>
                </a:solidFill>
                <a:latin typeface="Bitter" pitchFamily="34" charset="0"/>
                <a:ea typeface="Bitter" pitchFamily="34" charset="-122"/>
                <a:cs typeface="Bitter" pitchFamily="34" charset="-120"/>
              </a:rPr>
              <a:t> matches any value.</a:t>
            </a:r>
            <a:endParaRPr lang="en-US" sz="1050" dirty="0"/>
          </a:p>
        </p:txBody>
      </p:sp>
      <p:sp>
        <p:nvSpPr>
          <p:cNvPr id="23" name="Shape 21"/>
          <p:cNvSpPr/>
          <p:nvPr/>
        </p:nvSpPr>
        <p:spPr>
          <a:xfrm>
            <a:off x="9553694" y="6597253"/>
            <a:ext cx="4282797" cy="961430"/>
          </a:xfrm>
          <a:prstGeom prst="roundRect">
            <a:avLst>
              <a:gd name="adj" fmla="val 2168"/>
            </a:avLst>
          </a:prstGeom>
          <a:solidFill>
            <a:srgbClr val="1C1D1F"/>
          </a:solidFill>
          <a:ln w="15240">
            <a:solidFill>
              <a:srgbClr val="545557"/>
            </a:solidFill>
            <a:prstDash val="solid"/>
          </a:ln>
        </p:spPr>
      </p:sp>
      <p:sp>
        <p:nvSpPr>
          <p:cNvPr id="24" name="Text 22"/>
          <p:cNvSpPr/>
          <p:nvPr/>
        </p:nvSpPr>
        <p:spPr>
          <a:xfrm>
            <a:off x="9707761" y="6751320"/>
            <a:ext cx="1736646" cy="217051"/>
          </a:xfrm>
          <a:prstGeom prst="rect">
            <a:avLst/>
          </a:prstGeom>
          <a:noFill/>
          <a:ln/>
        </p:spPr>
        <p:txBody>
          <a:bodyPr wrap="none" lIns="0" tIns="0" rIns="0" bIns="0" rtlCol="0" anchor="t"/>
          <a:lstStyle/>
          <a:p>
            <a:pPr algn="l" indent="0" marL="0">
              <a:lnSpc>
                <a:spcPts val="1700"/>
              </a:lnSpc>
              <a:buNone/>
            </a:pPr>
            <a:r>
              <a:rPr lang="en-US" sz="1350" b="1" dirty="0">
                <a:solidFill>
                  <a:srgbClr val="C2C4B5"/>
                </a:solidFill>
                <a:latin typeface="Outfit Bold" pitchFamily="34" charset="0"/>
                <a:ea typeface="Outfit Bold" pitchFamily="34" charset="-122"/>
                <a:cs typeface="Outfit Bold" pitchFamily="34" charset="-120"/>
              </a:rPr>
              <a:t>Effect Field</a:t>
            </a:r>
            <a:endParaRPr lang="en-US" sz="1350" dirty="0"/>
          </a:p>
        </p:txBody>
      </p:sp>
      <p:sp>
        <p:nvSpPr>
          <p:cNvPr id="25" name="Text 23"/>
          <p:cNvSpPr/>
          <p:nvPr/>
        </p:nvSpPr>
        <p:spPr>
          <a:xfrm>
            <a:off x="9707761" y="7026712"/>
            <a:ext cx="3974663" cy="377904"/>
          </a:xfrm>
          <a:prstGeom prst="rect">
            <a:avLst/>
          </a:prstGeom>
          <a:noFill/>
          <a:ln/>
        </p:spPr>
        <p:txBody>
          <a:bodyPr wrap="square" lIns="0" tIns="0" rIns="0" bIns="0" rtlCol="0" anchor="t"/>
          <a:lstStyle/>
          <a:p>
            <a:pPr algn="l" indent="0" marL="0">
              <a:lnSpc>
                <a:spcPts val="1450"/>
              </a:lnSpc>
              <a:buNone/>
            </a:pPr>
            <a:r>
              <a:rPr lang="en-US" sz="1050" dirty="0">
                <a:solidFill>
                  <a:srgbClr val="C2C4B5"/>
                </a:solidFill>
                <a:latin typeface="Bitter" pitchFamily="34" charset="0"/>
                <a:ea typeface="Bitter" pitchFamily="34" charset="-122"/>
                <a:cs typeface="Bitter" pitchFamily="34" charset="-120"/>
              </a:rPr>
              <a:t>Matches specific taint effect. Omit to tolerate all effects with matching key.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45093"/>
            <a:ext cx="6541413" cy="465177"/>
          </a:xfrm>
          <a:prstGeom prst="rect">
            <a:avLst/>
          </a:prstGeom>
          <a:noFill/>
          <a:ln/>
        </p:spPr>
        <p:txBody>
          <a:bodyPr wrap="none" lIns="0" tIns="0" rIns="0" bIns="0" rtlCol="0" anchor="t"/>
          <a:lstStyle/>
          <a:p>
            <a:pPr algn="l" indent="0" marL="0">
              <a:lnSpc>
                <a:spcPts val="3650"/>
              </a:lnSpc>
              <a:buNone/>
            </a:pPr>
            <a:r>
              <a:rPr lang="en-US" sz="2900" b="1" dirty="0">
                <a:solidFill>
                  <a:srgbClr val="E1E5CD"/>
                </a:solidFill>
                <a:latin typeface="Outfit Bold" pitchFamily="34" charset="0"/>
                <a:ea typeface="Outfit Bold" pitchFamily="34" charset="-122"/>
                <a:cs typeface="Outfit Bold" pitchFamily="34" charset="-120"/>
              </a:rPr>
              <a:t>Matching Logic: How Tolerations Work</a:t>
            </a:r>
            <a:endParaRPr lang="en-US" sz="2900" dirty="0"/>
          </a:p>
        </p:txBody>
      </p:sp>
      <p:sp>
        <p:nvSpPr>
          <p:cNvPr id="3" name="Text 1"/>
          <p:cNvSpPr/>
          <p:nvPr/>
        </p:nvSpPr>
        <p:spPr>
          <a:xfrm>
            <a:off x="793790" y="1433512"/>
            <a:ext cx="13042821" cy="208359"/>
          </a:xfrm>
          <a:prstGeom prst="rect">
            <a:avLst/>
          </a:prstGeom>
          <a:noFill/>
          <a:ln/>
        </p:spPr>
        <p:txBody>
          <a:bodyPr wrap="none" lIns="0" tIns="0" rIns="0" bIns="0" rtlCol="0" anchor="t"/>
          <a:lstStyle/>
          <a:p>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Understanding the matching logic is absolutely critical for both real-world Kubernetes administration and the CKA exam. Let's break down each component:</a:t>
            </a:r>
            <a:endParaRPr lang="en-US" sz="1150" dirty="0"/>
          </a:p>
        </p:txBody>
      </p:sp>
      <p:sp>
        <p:nvSpPr>
          <p:cNvPr id="4" name="Text 2"/>
          <p:cNvSpPr/>
          <p:nvPr/>
        </p:nvSpPr>
        <p:spPr>
          <a:xfrm>
            <a:off x="793790" y="1767364"/>
            <a:ext cx="148828" cy="185976"/>
          </a:xfrm>
          <a:prstGeom prst="rect">
            <a:avLst/>
          </a:prstGeom>
          <a:noFill/>
          <a:ln/>
        </p:spPr>
        <p:txBody>
          <a:bodyPr wrap="none" lIns="0" tIns="0" rIns="0" bIns="0" rtlCol="0" anchor="t"/>
          <a:lstStyle/>
          <a:p>
            <a:pPr algn="l" indent="0" marL="0">
              <a:lnSpc>
                <a:spcPts val="1600"/>
              </a:lnSpc>
              <a:buNone/>
            </a:pPr>
            <a:r>
              <a:rPr lang="en-US" sz="1150" dirty="0">
                <a:solidFill>
                  <a:srgbClr val="C2C4B5"/>
                </a:solidFill>
                <a:latin typeface="Outfit Light" pitchFamily="34" charset="0"/>
                <a:ea typeface="Outfit Light" pitchFamily="34" charset="-122"/>
                <a:cs typeface="Outfit Light" pitchFamily="34" charset="-120"/>
              </a:rPr>
              <a:t>01</a:t>
            </a:r>
            <a:endParaRPr lang="en-US" sz="1150" dirty="0"/>
          </a:p>
        </p:txBody>
      </p:sp>
      <p:sp>
        <p:nvSpPr>
          <p:cNvPr id="5" name="Shape 3"/>
          <p:cNvSpPr/>
          <p:nvPr/>
        </p:nvSpPr>
        <p:spPr>
          <a:xfrm>
            <a:off x="793790" y="2005013"/>
            <a:ext cx="6465570" cy="15240"/>
          </a:xfrm>
          <a:prstGeom prst="rect">
            <a:avLst/>
          </a:prstGeom>
          <a:solidFill>
            <a:srgbClr val="9FA582"/>
          </a:solidFill>
          <a:ln/>
        </p:spPr>
      </p:sp>
      <p:sp>
        <p:nvSpPr>
          <p:cNvPr id="6" name="Text 4"/>
          <p:cNvSpPr/>
          <p:nvPr/>
        </p:nvSpPr>
        <p:spPr>
          <a:xfrm>
            <a:off x="793790" y="2109907"/>
            <a:ext cx="1860590" cy="232529"/>
          </a:xfrm>
          <a:prstGeom prst="rect">
            <a:avLst/>
          </a:prstGeom>
          <a:noFill/>
          <a:ln/>
        </p:spPr>
        <p:txBody>
          <a:bodyPr wrap="none" lIns="0" tIns="0" rIns="0" bIns="0" rtlCol="0" anchor="t"/>
          <a:lstStyle/>
          <a:p>
            <a:pPr algn="l" indent="0" marL="0">
              <a:lnSpc>
                <a:spcPts val="1800"/>
              </a:lnSpc>
              <a:buNone/>
            </a:pPr>
            <a:r>
              <a:rPr lang="en-US" sz="1450" b="1" dirty="0">
                <a:solidFill>
                  <a:srgbClr val="C2C4B5"/>
                </a:solidFill>
                <a:latin typeface="Outfit Bold" pitchFamily="34" charset="0"/>
                <a:ea typeface="Outfit Bold" pitchFamily="34" charset="-122"/>
                <a:cs typeface="Outfit Bold" pitchFamily="34" charset="-120"/>
              </a:rPr>
              <a:t>Key Matching</a:t>
            </a:r>
            <a:endParaRPr lang="en-US" sz="1450" dirty="0"/>
          </a:p>
        </p:txBody>
      </p:sp>
      <p:sp>
        <p:nvSpPr>
          <p:cNvPr id="7" name="Text 5"/>
          <p:cNvSpPr/>
          <p:nvPr/>
        </p:nvSpPr>
        <p:spPr>
          <a:xfrm>
            <a:off x="793790" y="2409349"/>
            <a:ext cx="6465570" cy="424339"/>
          </a:xfrm>
          <a:prstGeom prst="rect">
            <a:avLst/>
          </a:prstGeom>
          <a:noFill/>
          <a:ln/>
        </p:spPr>
        <p:txBody>
          <a:bodyPr wrap="square" lIns="0" tIns="0" rIns="0" bIns="0" rtlCol="0" anchor="t"/>
          <a:lstStyle/>
          <a:p>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The toleration key must exactly match the taint key. This is case-sensitive string comparison. Example: </a:t>
            </a:r>
            <a:pPr algn="l" indent="0" marL="0">
              <a:lnSpc>
                <a:spcPts val="1600"/>
              </a:lnSpc>
              <a:buNone/>
            </a:pPr>
            <a:r>
              <a:rPr lang="en-US" sz="1150" dirty="0">
                <a:solidFill>
                  <a:srgbClr val="C2C4B5"/>
                </a:solidFill>
                <a:highlight>
                  <a:srgbClr val="292A2C"/>
                </a:highlight>
                <a:latin typeface="Consolas" pitchFamily="34" charset="0"/>
                <a:ea typeface="Consolas" pitchFamily="34" charset="-122"/>
                <a:cs typeface="Consolas" pitchFamily="34" charset="-120"/>
              </a:rPr>
              <a:t>dedicated</a:t>
            </a:r>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 ≠ </a:t>
            </a:r>
            <a:pPr algn="l" indent="0" marL="0">
              <a:lnSpc>
                <a:spcPts val="1600"/>
              </a:lnSpc>
              <a:buNone/>
            </a:pPr>
            <a:r>
              <a:rPr lang="en-US" sz="1150" dirty="0">
                <a:solidFill>
                  <a:srgbClr val="C2C4B5"/>
                </a:solidFill>
                <a:highlight>
                  <a:srgbClr val="292A2C"/>
                </a:highlight>
                <a:latin typeface="Consolas" pitchFamily="34" charset="0"/>
                <a:ea typeface="Consolas" pitchFamily="34" charset="-122"/>
                <a:cs typeface="Consolas" pitchFamily="34" charset="-120"/>
              </a:rPr>
              <a:t>Dedicated</a:t>
            </a:r>
            <a:endParaRPr lang="en-US" sz="1150" dirty="0"/>
          </a:p>
        </p:txBody>
      </p:sp>
      <p:sp>
        <p:nvSpPr>
          <p:cNvPr id="8" name="Text 6"/>
          <p:cNvSpPr/>
          <p:nvPr/>
        </p:nvSpPr>
        <p:spPr>
          <a:xfrm>
            <a:off x="7370921" y="1767364"/>
            <a:ext cx="148828" cy="185976"/>
          </a:xfrm>
          <a:prstGeom prst="rect">
            <a:avLst/>
          </a:prstGeom>
          <a:noFill/>
          <a:ln/>
        </p:spPr>
        <p:txBody>
          <a:bodyPr wrap="none" lIns="0" tIns="0" rIns="0" bIns="0" rtlCol="0" anchor="t"/>
          <a:lstStyle/>
          <a:p>
            <a:pPr algn="l" indent="0" marL="0">
              <a:lnSpc>
                <a:spcPts val="1600"/>
              </a:lnSpc>
              <a:buNone/>
            </a:pPr>
            <a:r>
              <a:rPr lang="en-US" sz="1150" dirty="0">
                <a:solidFill>
                  <a:srgbClr val="C2C4B5"/>
                </a:solidFill>
                <a:latin typeface="Outfit Light" pitchFamily="34" charset="0"/>
                <a:ea typeface="Outfit Light" pitchFamily="34" charset="-122"/>
                <a:cs typeface="Outfit Light" pitchFamily="34" charset="-120"/>
              </a:rPr>
              <a:t>02</a:t>
            </a:r>
            <a:endParaRPr lang="en-US" sz="1150" dirty="0"/>
          </a:p>
        </p:txBody>
      </p:sp>
      <p:sp>
        <p:nvSpPr>
          <p:cNvPr id="9" name="Shape 7"/>
          <p:cNvSpPr/>
          <p:nvPr/>
        </p:nvSpPr>
        <p:spPr>
          <a:xfrm>
            <a:off x="7370921" y="2005013"/>
            <a:ext cx="6465689" cy="15240"/>
          </a:xfrm>
          <a:prstGeom prst="rect">
            <a:avLst/>
          </a:prstGeom>
          <a:solidFill>
            <a:srgbClr val="9FA582"/>
          </a:solidFill>
          <a:ln/>
        </p:spPr>
      </p:sp>
      <p:sp>
        <p:nvSpPr>
          <p:cNvPr id="10" name="Text 8"/>
          <p:cNvSpPr/>
          <p:nvPr/>
        </p:nvSpPr>
        <p:spPr>
          <a:xfrm>
            <a:off x="7370921" y="2109907"/>
            <a:ext cx="1860590" cy="232529"/>
          </a:xfrm>
          <a:prstGeom prst="rect">
            <a:avLst/>
          </a:prstGeom>
          <a:noFill/>
          <a:ln/>
        </p:spPr>
        <p:txBody>
          <a:bodyPr wrap="none" lIns="0" tIns="0" rIns="0" bIns="0" rtlCol="0" anchor="t"/>
          <a:lstStyle/>
          <a:p>
            <a:pPr algn="l" indent="0" marL="0">
              <a:lnSpc>
                <a:spcPts val="1800"/>
              </a:lnSpc>
              <a:buNone/>
            </a:pPr>
            <a:r>
              <a:rPr lang="en-US" sz="1450" b="1" dirty="0">
                <a:solidFill>
                  <a:srgbClr val="C2C4B5"/>
                </a:solidFill>
                <a:latin typeface="Outfit Bold" pitchFamily="34" charset="0"/>
                <a:ea typeface="Outfit Bold" pitchFamily="34" charset="-122"/>
                <a:cs typeface="Outfit Bold" pitchFamily="34" charset="-120"/>
              </a:rPr>
              <a:t>Operator Evaluation</a:t>
            </a:r>
            <a:endParaRPr lang="en-US" sz="1450" dirty="0"/>
          </a:p>
        </p:txBody>
      </p:sp>
      <p:sp>
        <p:nvSpPr>
          <p:cNvPr id="11" name="Text 9"/>
          <p:cNvSpPr/>
          <p:nvPr/>
        </p:nvSpPr>
        <p:spPr>
          <a:xfrm>
            <a:off x="7370921" y="2409349"/>
            <a:ext cx="6465689" cy="424339"/>
          </a:xfrm>
          <a:prstGeom prst="rect">
            <a:avLst/>
          </a:prstGeom>
          <a:noFill/>
          <a:ln/>
        </p:spPr>
        <p:txBody>
          <a:bodyPr wrap="square" lIns="0" tIns="0" rIns="0" bIns="0" rtlCol="0" anchor="t"/>
          <a:lstStyle/>
          <a:p>
            <a:pPr algn="l" indent="0" marL="0">
              <a:lnSpc>
                <a:spcPts val="1600"/>
              </a:lnSpc>
              <a:buNone/>
            </a:pPr>
            <a:r>
              <a:rPr lang="en-US" sz="1150" dirty="0">
                <a:solidFill>
                  <a:srgbClr val="C2C4B5"/>
                </a:solidFill>
                <a:highlight>
                  <a:srgbClr val="292A2C"/>
                </a:highlight>
                <a:latin typeface="Consolas" pitchFamily="34" charset="0"/>
                <a:ea typeface="Consolas" pitchFamily="34" charset="-122"/>
                <a:cs typeface="Consolas" pitchFamily="34" charset="-120"/>
              </a:rPr>
              <a:t>Equal</a:t>
            </a:r>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 operator requires exact value match. </a:t>
            </a:r>
            <a:pPr algn="l" indent="0" marL="0">
              <a:lnSpc>
                <a:spcPts val="1600"/>
              </a:lnSpc>
              <a:buNone/>
            </a:pPr>
            <a:r>
              <a:rPr lang="en-US" sz="1150" dirty="0">
                <a:solidFill>
                  <a:srgbClr val="C2C4B5"/>
                </a:solidFill>
                <a:highlight>
                  <a:srgbClr val="292A2C"/>
                </a:highlight>
                <a:latin typeface="Consolas" pitchFamily="34" charset="0"/>
                <a:ea typeface="Consolas" pitchFamily="34" charset="-122"/>
                <a:cs typeface="Consolas" pitchFamily="34" charset="-120"/>
              </a:rPr>
              <a:t>Exists</a:t>
            </a:r>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 operator matches if key exists regardless of value.</a:t>
            </a:r>
            <a:endParaRPr lang="en-US" sz="1150" dirty="0"/>
          </a:p>
        </p:txBody>
      </p:sp>
      <p:sp>
        <p:nvSpPr>
          <p:cNvPr id="12" name="Text 10"/>
          <p:cNvSpPr/>
          <p:nvPr/>
        </p:nvSpPr>
        <p:spPr>
          <a:xfrm>
            <a:off x="793790" y="3056811"/>
            <a:ext cx="148828" cy="185976"/>
          </a:xfrm>
          <a:prstGeom prst="rect">
            <a:avLst/>
          </a:prstGeom>
          <a:noFill/>
          <a:ln/>
        </p:spPr>
        <p:txBody>
          <a:bodyPr wrap="none" lIns="0" tIns="0" rIns="0" bIns="0" rtlCol="0" anchor="t"/>
          <a:lstStyle/>
          <a:p>
            <a:pPr algn="l" indent="0" marL="0">
              <a:lnSpc>
                <a:spcPts val="1600"/>
              </a:lnSpc>
              <a:buNone/>
            </a:pPr>
            <a:r>
              <a:rPr lang="en-US" sz="1150" dirty="0">
                <a:solidFill>
                  <a:srgbClr val="C2C4B5"/>
                </a:solidFill>
                <a:latin typeface="Outfit Light" pitchFamily="34" charset="0"/>
                <a:ea typeface="Outfit Light" pitchFamily="34" charset="-122"/>
                <a:cs typeface="Outfit Light" pitchFamily="34" charset="-120"/>
              </a:rPr>
              <a:t>03</a:t>
            </a:r>
            <a:endParaRPr lang="en-US" sz="1150" dirty="0"/>
          </a:p>
        </p:txBody>
      </p:sp>
      <p:sp>
        <p:nvSpPr>
          <p:cNvPr id="13" name="Shape 11"/>
          <p:cNvSpPr/>
          <p:nvPr/>
        </p:nvSpPr>
        <p:spPr>
          <a:xfrm>
            <a:off x="793790" y="3294459"/>
            <a:ext cx="6465570" cy="15240"/>
          </a:xfrm>
          <a:prstGeom prst="rect">
            <a:avLst/>
          </a:prstGeom>
          <a:solidFill>
            <a:srgbClr val="9FA582"/>
          </a:solidFill>
          <a:ln/>
        </p:spPr>
      </p:sp>
      <p:sp>
        <p:nvSpPr>
          <p:cNvPr id="14" name="Text 12"/>
          <p:cNvSpPr/>
          <p:nvPr/>
        </p:nvSpPr>
        <p:spPr>
          <a:xfrm>
            <a:off x="793790" y="3399353"/>
            <a:ext cx="1860590" cy="232529"/>
          </a:xfrm>
          <a:prstGeom prst="rect">
            <a:avLst/>
          </a:prstGeom>
          <a:noFill/>
          <a:ln/>
        </p:spPr>
        <p:txBody>
          <a:bodyPr wrap="none" lIns="0" tIns="0" rIns="0" bIns="0" rtlCol="0" anchor="t"/>
          <a:lstStyle/>
          <a:p>
            <a:pPr algn="l" indent="0" marL="0">
              <a:lnSpc>
                <a:spcPts val="1800"/>
              </a:lnSpc>
              <a:buNone/>
            </a:pPr>
            <a:r>
              <a:rPr lang="en-US" sz="1450" b="1" dirty="0">
                <a:solidFill>
                  <a:srgbClr val="C2C4B5"/>
                </a:solidFill>
                <a:latin typeface="Outfit Bold" pitchFamily="34" charset="0"/>
                <a:ea typeface="Outfit Bold" pitchFamily="34" charset="-122"/>
                <a:cs typeface="Outfit Bold" pitchFamily="34" charset="-120"/>
              </a:rPr>
              <a:t>Effect Matching</a:t>
            </a:r>
            <a:endParaRPr lang="en-US" sz="1450" dirty="0"/>
          </a:p>
        </p:txBody>
      </p:sp>
      <p:sp>
        <p:nvSpPr>
          <p:cNvPr id="15" name="Text 13"/>
          <p:cNvSpPr/>
          <p:nvPr/>
        </p:nvSpPr>
        <p:spPr>
          <a:xfrm>
            <a:off x="793790" y="3698796"/>
            <a:ext cx="6465570" cy="416719"/>
          </a:xfrm>
          <a:prstGeom prst="rect">
            <a:avLst/>
          </a:prstGeom>
          <a:noFill/>
          <a:ln/>
        </p:spPr>
        <p:txBody>
          <a:bodyPr wrap="square" lIns="0" tIns="0" rIns="0" bIns="0" rtlCol="0" anchor="t"/>
          <a:lstStyle/>
          <a:p>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If effect is specified in toleration, it must match the taint effect. If omitted, toleration matches all effects with matching key.</a:t>
            </a:r>
            <a:endParaRPr lang="en-US" sz="1150" dirty="0"/>
          </a:p>
        </p:txBody>
      </p:sp>
      <p:sp>
        <p:nvSpPr>
          <p:cNvPr id="16" name="Text 14"/>
          <p:cNvSpPr/>
          <p:nvPr/>
        </p:nvSpPr>
        <p:spPr>
          <a:xfrm>
            <a:off x="7370921" y="3056811"/>
            <a:ext cx="148828" cy="185976"/>
          </a:xfrm>
          <a:prstGeom prst="rect">
            <a:avLst/>
          </a:prstGeom>
          <a:noFill/>
          <a:ln/>
        </p:spPr>
        <p:txBody>
          <a:bodyPr wrap="none" lIns="0" tIns="0" rIns="0" bIns="0" rtlCol="0" anchor="t"/>
          <a:lstStyle/>
          <a:p>
            <a:pPr algn="l" indent="0" marL="0">
              <a:lnSpc>
                <a:spcPts val="1600"/>
              </a:lnSpc>
              <a:buNone/>
            </a:pPr>
            <a:r>
              <a:rPr lang="en-US" sz="1150" dirty="0">
                <a:solidFill>
                  <a:srgbClr val="C2C4B5"/>
                </a:solidFill>
                <a:latin typeface="Outfit Light" pitchFamily="34" charset="0"/>
                <a:ea typeface="Outfit Light" pitchFamily="34" charset="-122"/>
                <a:cs typeface="Outfit Light" pitchFamily="34" charset="-120"/>
              </a:rPr>
              <a:t>04</a:t>
            </a:r>
            <a:endParaRPr lang="en-US" sz="1150" dirty="0"/>
          </a:p>
        </p:txBody>
      </p:sp>
      <p:sp>
        <p:nvSpPr>
          <p:cNvPr id="17" name="Shape 15"/>
          <p:cNvSpPr/>
          <p:nvPr/>
        </p:nvSpPr>
        <p:spPr>
          <a:xfrm>
            <a:off x="7370921" y="3294459"/>
            <a:ext cx="6465689" cy="15240"/>
          </a:xfrm>
          <a:prstGeom prst="rect">
            <a:avLst/>
          </a:prstGeom>
          <a:solidFill>
            <a:srgbClr val="9FA582"/>
          </a:solidFill>
          <a:ln/>
        </p:spPr>
      </p:sp>
      <p:sp>
        <p:nvSpPr>
          <p:cNvPr id="18" name="Text 16"/>
          <p:cNvSpPr/>
          <p:nvPr/>
        </p:nvSpPr>
        <p:spPr>
          <a:xfrm>
            <a:off x="7370921" y="3399353"/>
            <a:ext cx="1860590" cy="232529"/>
          </a:xfrm>
          <a:prstGeom prst="rect">
            <a:avLst/>
          </a:prstGeom>
          <a:noFill/>
          <a:ln/>
        </p:spPr>
        <p:txBody>
          <a:bodyPr wrap="none" lIns="0" tIns="0" rIns="0" bIns="0" rtlCol="0" anchor="t"/>
          <a:lstStyle/>
          <a:p>
            <a:pPr algn="l" indent="0" marL="0">
              <a:lnSpc>
                <a:spcPts val="1800"/>
              </a:lnSpc>
              <a:buNone/>
            </a:pPr>
            <a:r>
              <a:rPr lang="en-US" sz="1450" b="1" dirty="0">
                <a:solidFill>
                  <a:srgbClr val="C2C4B5"/>
                </a:solidFill>
                <a:latin typeface="Outfit Bold" pitchFamily="34" charset="0"/>
                <a:ea typeface="Outfit Bold" pitchFamily="34" charset="-122"/>
                <a:cs typeface="Outfit Bold" pitchFamily="34" charset="-120"/>
              </a:rPr>
              <a:t>Logical OR</a:t>
            </a:r>
            <a:endParaRPr lang="en-US" sz="1450" dirty="0"/>
          </a:p>
        </p:txBody>
      </p:sp>
      <p:sp>
        <p:nvSpPr>
          <p:cNvPr id="19" name="Text 17"/>
          <p:cNvSpPr/>
          <p:nvPr/>
        </p:nvSpPr>
        <p:spPr>
          <a:xfrm>
            <a:off x="7370921" y="3698796"/>
            <a:ext cx="6465689" cy="416719"/>
          </a:xfrm>
          <a:prstGeom prst="rect">
            <a:avLst/>
          </a:prstGeom>
          <a:noFill/>
          <a:ln/>
        </p:spPr>
        <p:txBody>
          <a:bodyPr wrap="square" lIns="0" tIns="0" rIns="0" bIns="0" rtlCol="0" anchor="t"/>
          <a:lstStyle/>
          <a:p>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Multiple tolerations in a pod spec use OR logic. Pod can schedule if ANY toleration matches ANY taint on the node.</a:t>
            </a:r>
            <a:endParaRPr lang="en-US" sz="1150" dirty="0"/>
          </a:p>
        </p:txBody>
      </p:sp>
      <p:sp>
        <p:nvSpPr>
          <p:cNvPr id="20" name="Text 18"/>
          <p:cNvSpPr/>
          <p:nvPr/>
        </p:nvSpPr>
        <p:spPr>
          <a:xfrm>
            <a:off x="793790" y="4464129"/>
            <a:ext cx="1860590" cy="232529"/>
          </a:xfrm>
          <a:prstGeom prst="rect">
            <a:avLst/>
          </a:prstGeom>
          <a:noFill/>
          <a:ln/>
        </p:spPr>
        <p:txBody>
          <a:bodyPr wrap="none" lIns="0" tIns="0" rIns="0" bIns="0" rtlCol="0" anchor="t"/>
          <a:lstStyle/>
          <a:p>
            <a:pPr algn="l" indent="0" marL="0">
              <a:lnSpc>
                <a:spcPts val="1800"/>
              </a:lnSpc>
              <a:buNone/>
            </a:pPr>
            <a:r>
              <a:rPr lang="en-US" sz="1450" b="1" dirty="0">
                <a:solidFill>
                  <a:srgbClr val="E1E5CD"/>
                </a:solidFill>
                <a:latin typeface="Outfit Bold" pitchFamily="34" charset="0"/>
                <a:ea typeface="Outfit Bold" pitchFamily="34" charset="-122"/>
                <a:cs typeface="Outfit Bold" pitchFamily="34" charset="-120"/>
              </a:rPr>
              <a:t>Operator: Equal</a:t>
            </a:r>
            <a:endParaRPr lang="en-US" sz="1450" dirty="0"/>
          </a:p>
        </p:txBody>
      </p:sp>
      <p:sp>
        <p:nvSpPr>
          <p:cNvPr id="21" name="Shape 19"/>
          <p:cNvSpPr/>
          <p:nvPr/>
        </p:nvSpPr>
        <p:spPr>
          <a:xfrm>
            <a:off x="793790" y="4822150"/>
            <a:ext cx="6339840" cy="1339453"/>
          </a:xfrm>
          <a:prstGeom prst="roundRect">
            <a:avLst>
              <a:gd name="adj" fmla="val 1667"/>
            </a:avLst>
          </a:prstGeom>
          <a:solidFill>
            <a:srgbClr val="292A2C"/>
          </a:solidFill>
          <a:ln/>
        </p:spPr>
      </p:sp>
      <p:sp>
        <p:nvSpPr>
          <p:cNvPr id="22" name="Shape 20"/>
          <p:cNvSpPr/>
          <p:nvPr/>
        </p:nvSpPr>
        <p:spPr>
          <a:xfrm>
            <a:off x="786408" y="4822150"/>
            <a:ext cx="6354604" cy="1339453"/>
          </a:xfrm>
          <a:prstGeom prst="roundRect">
            <a:avLst>
              <a:gd name="adj" fmla="val 1667"/>
            </a:avLst>
          </a:prstGeom>
          <a:solidFill>
            <a:srgbClr val="292A2C"/>
          </a:solidFill>
          <a:ln/>
        </p:spPr>
      </p:sp>
      <p:sp>
        <p:nvSpPr>
          <p:cNvPr id="23" name="Text 21"/>
          <p:cNvSpPr/>
          <p:nvPr/>
        </p:nvSpPr>
        <p:spPr>
          <a:xfrm>
            <a:off x="972383" y="4970978"/>
            <a:ext cx="5982653" cy="1041797"/>
          </a:xfrm>
          <a:prstGeom prst="rect">
            <a:avLst/>
          </a:prstGeom>
          <a:noFill/>
          <a:ln/>
        </p:spPr>
        <p:txBody>
          <a:bodyPr wrap="square" lIns="0" tIns="0" rIns="0" bIns="0" rtlCol="0" anchor="t"/>
          <a:lstStyle/>
          <a:p>
            <a:pPr algn="l" indent="0" marL="0">
              <a:lnSpc>
                <a:spcPts val="1600"/>
              </a:lnSpc>
              <a:buNone/>
            </a:pPr>
            <a:r>
              <a:rPr lang="en-US" sz="1150" dirty="0">
                <a:solidFill>
                  <a:srgbClr val="C2C4B5"/>
                </a:solidFill>
                <a:latin typeface="Consolas" pitchFamily="34" charset="0"/>
                <a:ea typeface="Consolas" pitchFamily="34" charset="-122"/>
                <a:cs typeface="Consolas" pitchFamily="34" charset="-120"/>
              </a:rPr>
              <a:t>  tolerations:</a:t>
            </a:r>
            <a:endParaRPr lang="en-US" sz="1150" dirty="0"/>
          </a:p>
          <a:p>
            <a:pPr algn="l" indent="0" marL="0">
              <a:lnSpc>
                <a:spcPts val="1600"/>
              </a:lnSpc>
              <a:buNone/>
            </a:pPr>
            <a:r>
              <a:rPr lang="en-US" sz="1150" dirty="0">
                <a:solidFill>
                  <a:srgbClr val="C2C4B5"/>
                </a:solidFill>
                <a:latin typeface="Consolas" pitchFamily="34" charset="0"/>
                <a:ea typeface="Consolas" pitchFamily="34" charset="-122"/>
                <a:cs typeface="Consolas" pitchFamily="34" charset="-120"/>
              </a:rPr>
              <a:t>  - key: "dedicated"</a:t>
            </a:r>
            <a:endParaRPr lang="en-US" sz="1150" dirty="0"/>
          </a:p>
          <a:p>
            <a:pPr algn="l" indent="0" marL="0">
              <a:lnSpc>
                <a:spcPts val="1600"/>
              </a:lnSpc>
              <a:buNone/>
            </a:pPr>
            <a:r>
              <a:rPr lang="en-US" sz="1150" dirty="0">
                <a:solidFill>
                  <a:srgbClr val="C2C4B5"/>
                </a:solidFill>
                <a:latin typeface="Consolas" pitchFamily="34" charset="0"/>
                <a:ea typeface="Consolas" pitchFamily="34" charset="-122"/>
                <a:cs typeface="Consolas" pitchFamily="34" charset="-120"/>
              </a:rPr>
              <a:t>    operator: "Equal"</a:t>
            </a:r>
            <a:endParaRPr lang="en-US" sz="1150" dirty="0"/>
          </a:p>
          <a:p>
            <a:pPr algn="l" indent="0" marL="0">
              <a:lnSpc>
                <a:spcPts val="1600"/>
              </a:lnSpc>
              <a:buNone/>
            </a:pPr>
            <a:r>
              <a:rPr lang="en-US" sz="1150" dirty="0">
                <a:solidFill>
                  <a:srgbClr val="C2C4B5"/>
                </a:solidFill>
                <a:latin typeface="Consolas" pitchFamily="34" charset="0"/>
                <a:ea typeface="Consolas" pitchFamily="34" charset="-122"/>
                <a:cs typeface="Consolas" pitchFamily="34" charset="-120"/>
              </a:rPr>
              <a:t>    value: "frontend"</a:t>
            </a:r>
            <a:endParaRPr lang="en-US" sz="1150" dirty="0"/>
          </a:p>
          <a:p>
            <a:pPr algn="l" indent="0" marL="0">
              <a:lnSpc>
                <a:spcPts val="1600"/>
              </a:lnSpc>
              <a:buNone/>
            </a:pPr>
            <a:r>
              <a:rPr lang="en-US" sz="1150" dirty="0">
                <a:solidFill>
                  <a:srgbClr val="C2C4B5"/>
                </a:solidFill>
                <a:latin typeface="Consolas" pitchFamily="34" charset="0"/>
                <a:ea typeface="Consolas" pitchFamily="34" charset="-122"/>
                <a:cs typeface="Consolas" pitchFamily="34" charset="-120"/>
              </a:rPr>
              <a:t>    effect: "NoSchedule"</a:t>
            </a:r>
            <a:endParaRPr lang="en-US" sz="1150" dirty="0"/>
          </a:p>
        </p:txBody>
      </p:sp>
      <p:sp>
        <p:nvSpPr>
          <p:cNvPr id="24" name="Text 22"/>
          <p:cNvSpPr/>
          <p:nvPr/>
        </p:nvSpPr>
        <p:spPr>
          <a:xfrm>
            <a:off x="793790" y="6287095"/>
            <a:ext cx="6339840" cy="431959"/>
          </a:xfrm>
          <a:prstGeom prst="rect">
            <a:avLst/>
          </a:prstGeom>
          <a:noFill/>
          <a:ln/>
        </p:spPr>
        <p:txBody>
          <a:bodyPr wrap="square" lIns="0" tIns="0" rIns="0" bIns="0" rtlCol="0" anchor="t"/>
          <a:lstStyle/>
          <a:p>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This toleration matches taints where key=</a:t>
            </a:r>
            <a:pPr algn="l" indent="0" marL="0">
              <a:lnSpc>
                <a:spcPts val="1600"/>
              </a:lnSpc>
              <a:buNone/>
            </a:pPr>
            <a:r>
              <a:rPr lang="en-US" sz="1150" dirty="0">
                <a:solidFill>
                  <a:srgbClr val="C2C4B5"/>
                </a:solidFill>
                <a:highlight>
                  <a:srgbClr val="292A2C"/>
                </a:highlight>
                <a:latin typeface="Consolas" pitchFamily="34" charset="0"/>
                <a:ea typeface="Consolas" pitchFamily="34" charset="-122"/>
                <a:cs typeface="Consolas" pitchFamily="34" charset="-120"/>
              </a:rPr>
              <a:t>dedicated</a:t>
            </a:r>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 value=</a:t>
            </a:r>
            <a:pPr algn="l" indent="0" marL="0">
              <a:lnSpc>
                <a:spcPts val="1600"/>
              </a:lnSpc>
              <a:buNone/>
            </a:pPr>
            <a:r>
              <a:rPr lang="en-US" sz="1150" dirty="0">
                <a:solidFill>
                  <a:srgbClr val="C2C4B5"/>
                </a:solidFill>
                <a:highlight>
                  <a:srgbClr val="292A2C"/>
                </a:highlight>
                <a:latin typeface="Consolas" pitchFamily="34" charset="0"/>
                <a:ea typeface="Consolas" pitchFamily="34" charset="-122"/>
                <a:cs typeface="Consolas" pitchFamily="34" charset="-120"/>
              </a:rPr>
              <a:t>frontend</a:t>
            </a:r>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 and effect=</a:t>
            </a:r>
            <a:pPr algn="l" indent="0" marL="0">
              <a:lnSpc>
                <a:spcPts val="1600"/>
              </a:lnSpc>
              <a:buNone/>
            </a:pPr>
            <a:r>
              <a:rPr lang="en-US" sz="1150" dirty="0">
                <a:solidFill>
                  <a:srgbClr val="C2C4B5"/>
                </a:solidFill>
                <a:highlight>
                  <a:srgbClr val="292A2C"/>
                </a:highlight>
                <a:latin typeface="Consolas" pitchFamily="34" charset="0"/>
                <a:ea typeface="Consolas" pitchFamily="34" charset="-122"/>
                <a:cs typeface="Consolas" pitchFamily="34" charset="-120"/>
              </a:rPr>
              <a:t>NoSchedule</a:t>
            </a:r>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 exactly.</a:t>
            </a:r>
            <a:endParaRPr lang="en-US" sz="1150" dirty="0"/>
          </a:p>
        </p:txBody>
      </p:sp>
      <p:sp>
        <p:nvSpPr>
          <p:cNvPr id="25" name="Text 23"/>
          <p:cNvSpPr/>
          <p:nvPr/>
        </p:nvSpPr>
        <p:spPr>
          <a:xfrm>
            <a:off x="7504390" y="4464129"/>
            <a:ext cx="1860590" cy="232529"/>
          </a:xfrm>
          <a:prstGeom prst="rect">
            <a:avLst/>
          </a:prstGeom>
          <a:noFill/>
          <a:ln/>
        </p:spPr>
        <p:txBody>
          <a:bodyPr wrap="none" lIns="0" tIns="0" rIns="0" bIns="0" rtlCol="0" anchor="t"/>
          <a:lstStyle/>
          <a:p>
            <a:pPr algn="l" indent="0" marL="0">
              <a:lnSpc>
                <a:spcPts val="1800"/>
              </a:lnSpc>
              <a:buNone/>
            </a:pPr>
            <a:r>
              <a:rPr lang="en-US" sz="1450" b="1" dirty="0">
                <a:solidFill>
                  <a:srgbClr val="E1E5CD"/>
                </a:solidFill>
                <a:latin typeface="Outfit Bold" pitchFamily="34" charset="0"/>
                <a:ea typeface="Outfit Bold" pitchFamily="34" charset="-122"/>
                <a:cs typeface="Outfit Bold" pitchFamily="34" charset="-120"/>
              </a:rPr>
              <a:t>Operator: Exists</a:t>
            </a:r>
            <a:endParaRPr lang="en-US" sz="1450" dirty="0"/>
          </a:p>
        </p:txBody>
      </p:sp>
      <p:sp>
        <p:nvSpPr>
          <p:cNvPr id="26" name="Shape 24"/>
          <p:cNvSpPr/>
          <p:nvPr/>
        </p:nvSpPr>
        <p:spPr>
          <a:xfrm>
            <a:off x="7504390" y="4822150"/>
            <a:ext cx="6339840" cy="1131094"/>
          </a:xfrm>
          <a:prstGeom prst="roundRect">
            <a:avLst>
              <a:gd name="adj" fmla="val 1974"/>
            </a:avLst>
          </a:prstGeom>
          <a:solidFill>
            <a:srgbClr val="292A2C"/>
          </a:solidFill>
          <a:ln/>
        </p:spPr>
      </p:sp>
      <p:sp>
        <p:nvSpPr>
          <p:cNvPr id="27" name="Shape 25"/>
          <p:cNvSpPr/>
          <p:nvPr/>
        </p:nvSpPr>
        <p:spPr>
          <a:xfrm>
            <a:off x="7497008" y="4822150"/>
            <a:ext cx="6354604" cy="1131094"/>
          </a:xfrm>
          <a:prstGeom prst="roundRect">
            <a:avLst>
              <a:gd name="adj" fmla="val 1974"/>
            </a:avLst>
          </a:prstGeom>
          <a:solidFill>
            <a:srgbClr val="292A2C"/>
          </a:solidFill>
          <a:ln/>
        </p:spPr>
      </p:sp>
      <p:sp>
        <p:nvSpPr>
          <p:cNvPr id="28" name="Text 26"/>
          <p:cNvSpPr/>
          <p:nvPr/>
        </p:nvSpPr>
        <p:spPr>
          <a:xfrm>
            <a:off x="7682984" y="4970978"/>
            <a:ext cx="5982653" cy="833438"/>
          </a:xfrm>
          <a:prstGeom prst="rect">
            <a:avLst/>
          </a:prstGeom>
          <a:noFill/>
          <a:ln/>
        </p:spPr>
        <p:txBody>
          <a:bodyPr wrap="square" lIns="0" tIns="0" rIns="0" bIns="0" rtlCol="0" anchor="t"/>
          <a:lstStyle/>
          <a:p>
            <a:pPr algn="l" indent="0" marL="0">
              <a:lnSpc>
                <a:spcPts val="1600"/>
              </a:lnSpc>
              <a:buNone/>
            </a:pPr>
            <a:r>
              <a:rPr lang="en-US" sz="1150" dirty="0">
                <a:solidFill>
                  <a:srgbClr val="C2C4B5"/>
                </a:solidFill>
                <a:latin typeface="Consolas" pitchFamily="34" charset="0"/>
                <a:ea typeface="Consolas" pitchFamily="34" charset="-122"/>
                <a:cs typeface="Consolas" pitchFamily="34" charset="-120"/>
              </a:rPr>
              <a:t>  tolerations:</a:t>
            </a:r>
            <a:endParaRPr lang="en-US" sz="1150" dirty="0"/>
          </a:p>
          <a:p>
            <a:pPr algn="l" indent="0" marL="0">
              <a:lnSpc>
                <a:spcPts val="1600"/>
              </a:lnSpc>
              <a:buNone/>
            </a:pPr>
            <a:r>
              <a:rPr lang="en-US" sz="1150" dirty="0">
                <a:solidFill>
                  <a:srgbClr val="C2C4B5"/>
                </a:solidFill>
                <a:latin typeface="Consolas" pitchFamily="34" charset="0"/>
                <a:ea typeface="Consolas" pitchFamily="34" charset="-122"/>
                <a:cs typeface="Consolas" pitchFamily="34" charset="-120"/>
              </a:rPr>
              <a:t>  - key: "dedicated"</a:t>
            </a:r>
            <a:endParaRPr lang="en-US" sz="1150" dirty="0"/>
          </a:p>
          <a:p>
            <a:pPr algn="l" indent="0" marL="0">
              <a:lnSpc>
                <a:spcPts val="1600"/>
              </a:lnSpc>
              <a:buNone/>
            </a:pPr>
            <a:r>
              <a:rPr lang="en-US" sz="1150" dirty="0">
                <a:solidFill>
                  <a:srgbClr val="C2C4B5"/>
                </a:solidFill>
                <a:latin typeface="Consolas" pitchFamily="34" charset="0"/>
                <a:ea typeface="Consolas" pitchFamily="34" charset="-122"/>
                <a:cs typeface="Consolas" pitchFamily="34" charset="-120"/>
              </a:rPr>
              <a:t>    operator: "Exists"</a:t>
            </a:r>
            <a:endParaRPr lang="en-US" sz="1150" dirty="0"/>
          </a:p>
          <a:p>
            <a:pPr algn="l" indent="0" marL="0">
              <a:lnSpc>
                <a:spcPts val="1600"/>
              </a:lnSpc>
              <a:buNone/>
            </a:pPr>
            <a:r>
              <a:rPr lang="en-US" sz="1150" dirty="0">
                <a:solidFill>
                  <a:srgbClr val="C2C4B5"/>
                </a:solidFill>
                <a:latin typeface="Consolas" pitchFamily="34" charset="0"/>
                <a:ea typeface="Consolas" pitchFamily="34" charset="-122"/>
                <a:cs typeface="Consolas" pitchFamily="34" charset="-120"/>
              </a:rPr>
              <a:t>    effect: "NoSchedule"</a:t>
            </a:r>
            <a:endParaRPr lang="en-US" sz="1150" dirty="0"/>
          </a:p>
        </p:txBody>
      </p:sp>
      <p:sp>
        <p:nvSpPr>
          <p:cNvPr id="29" name="Text 27"/>
          <p:cNvSpPr/>
          <p:nvPr/>
        </p:nvSpPr>
        <p:spPr>
          <a:xfrm>
            <a:off x="7504390" y="6078736"/>
            <a:ext cx="6339840" cy="424339"/>
          </a:xfrm>
          <a:prstGeom prst="rect">
            <a:avLst/>
          </a:prstGeom>
          <a:noFill/>
          <a:ln/>
        </p:spPr>
        <p:txBody>
          <a:bodyPr wrap="square" lIns="0" tIns="0" rIns="0" bIns="0" rtlCol="0" anchor="t"/>
          <a:lstStyle/>
          <a:p>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This toleration matches ANY taint with key=</a:t>
            </a:r>
            <a:pPr algn="l" indent="0" marL="0">
              <a:lnSpc>
                <a:spcPts val="1600"/>
              </a:lnSpc>
              <a:buNone/>
            </a:pPr>
            <a:r>
              <a:rPr lang="en-US" sz="1150" dirty="0">
                <a:solidFill>
                  <a:srgbClr val="C2C4B5"/>
                </a:solidFill>
                <a:highlight>
                  <a:srgbClr val="292A2C"/>
                </a:highlight>
                <a:latin typeface="Consolas" pitchFamily="34" charset="0"/>
                <a:ea typeface="Consolas" pitchFamily="34" charset="-122"/>
                <a:cs typeface="Consolas" pitchFamily="34" charset="-120"/>
              </a:rPr>
              <a:t>dedicated</a:t>
            </a:r>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 and effect=</a:t>
            </a:r>
            <a:pPr algn="l" indent="0" marL="0">
              <a:lnSpc>
                <a:spcPts val="1600"/>
              </a:lnSpc>
              <a:buNone/>
            </a:pPr>
            <a:r>
              <a:rPr lang="en-US" sz="1150" dirty="0">
                <a:solidFill>
                  <a:srgbClr val="C2C4B5"/>
                </a:solidFill>
                <a:highlight>
                  <a:srgbClr val="292A2C"/>
                </a:highlight>
                <a:latin typeface="Consolas" pitchFamily="34" charset="0"/>
                <a:ea typeface="Consolas" pitchFamily="34" charset="-122"/>
                <a:cs typeface="Consolas" pitchFamily="34" charset="-120"/>
              </a:rPr>
              <a:t>NoSchedule</a:t>
            </a:r>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 regardless of the value.</a:t>
            </a:r>
            <a:endParaRPr lang="en-US" sz="1150" dirty="0"/>
          </a:p>
        </p:txBody>
      </p:sp>
      <p:sp>
        <p:nvSpPr>
          <p:cNvPr id="30" name="Shape 28"/>
          <p:cNvSpPr/>
          <p:nvPr/>
        </p:nvSpPr>
        <p:spPr>
          <a:xfrm>
            <a:off x="793790" y="6944916"/>
            <a:ext cx="13042821" cy="539472"/>
          </a:xfrm>
          <a:prstGeom prst="roundRect">
            <a:avLst>
              <a:gd name="adj" fmla="val 4139"/>
            </a:avLst>
          </a:prstGeom>
          <a:solidFill>
            <a:srgbClr val="2A2C20"/>
          </a:solidFill>
          <a:ln/>
        </p:spPr>
      </p:sp>
      <p:pic>
        <p:nvPicPr>
          <p:cNvPr id="31" name="Image 0" descr="preencoded.png">    </p:cNvPr>
          <p:cNvPicPr>
            <a:picLocks noChangeAspect="1"/>
          </p:cNvPicPr>
          <p:nvPr/>
        </p:nvPicPr>
        <p:blipFill>
          <a:blip r:embed="rId1"/>
          <a:stretch>
            <a:fillRect/>
          </a:stretch>
        </p:blipFill>
        <p:spPr>
          <a:xfrm>
            <a:off x="942618" y="7153037"/>
            <a:ext cx="185976" cy="148828"/>
          </a:xfrm>
          <a:prstGeom prst="rect">
            <a:avLst/>
          </a:prstGeom>
        </p:spPr>
      </p:pic>
      <p:sp>
        <p:nvSpPr>
          <p:cNvPr id="32" name="Text 29"/>
          <p:cNvSpPr/>
          <p:nvPr/>
        </p:nvSpPr>
        <p:spPr>
          <a:xfrm>
            <a:off x="1277422" y="7093625"/>
            <a:ext cx="12410361" cy="215979"/>
          </a:xfrm>
          <a:prstGeom prst="rect">
            <a:avLst/>
          </a:prstGeom>
          <a:noFill/>
          <a:ln/>
        </p:spPr>
        <p:txBody>
          <a:bodyPr wrap="none" lIns="0" tIns="0" rIns="0" bIns="0" rtlCol="0" anchor="t"/>
          <a:lstStyle/>
          <a:p>
            <a:pPr algn="l" indent="0" marL="0">
              <a:lnSpc>
                <a:spcPts val="1600"/>
              </a:lnSpc>
              <a:buNone/>
            </a:pPr>
            <a:r>
              <a:rPr lang="en-US" sz="1150" b="1" dirty="0">
                <a:solidFill>
                  <a:srgbClr val="FFFFFF"/>
                </a:solidFill>
                <a:latin typeface="Bitter" pitchFamily="34" charset="0"/>
                <a:ea typeface="Bitter" pitchFamily="34" charset="-122"/>
                <a:cs typeface="Bitter" pitchFamily="34" charset="-120"/>
              </a:rPr>
              <a:t>Pro Tip:</a:t>
            </a:r>
            <a:pPr algn="l" indent="0" marL="0">
              <a:lnSpc>
                <a:spcPts val="1600"/>
              </a:lnSpc>
              <a:buNone/>
            </a:pPr>
            <a:r>
              <a:rPr lang="en-US" sz="1150" dirty="0">
                <a:solidFill>
                  <a:srgbClr val="FFFFFF"/>
                </a:solidFill>
                <a:latin typeface="Bitter" pitchFamily="34" charset="0"/>
                <a:ea typeface="Bitter" pitchFamily="34" charset="-122"/>
                <a:cs typeface="Bitter" pitchFamily="34" charset="-120"/>
              </a:rPr>
              <a:t> Use </a:t>
            </a:r>
            <a:pPr algn="l" indent="0" marL="0">
              <a:lnSpc>
                <a:spcPts val="1600"/>
              </a:lnSpc>
              <a:buNone/>
            </a:pPr>
            <a:r>
              <a:rPr lang="en-US" sz="1150" dirty="0">
                <a:solidFill>
                  <a:srgbClr val="FFFFFF"/>
                </a:solidFill>
                <a:highlight>
                  <a:srgbClr val="292A2C"/>
                </a:highlight>
                <a:latin typeface="Consolas" pitchFamily="34" charset="0"/>
                <a:ea typeface="Consolas" pitchFamily="34" charset="-122"/>
                <a:cs typeface="Consolas" pitchFamily="34" charset="-120"/>
              </a:rPr>
              <a:t>Exists</a:t>
            </a:r>
            <a:pPr algn="l" indent="0" marL="0">
              <a:lnSpc>
                <a:spcPts val="1600"/>
              </a:lnSpc>
              <a:buNone/>
            </a:pPr>
            <a:r>
              <a:rPr lang="en-US" sz="1150" dirty="0">
                <a:solidFill>
                  <a:srgbClr val="FFFFFF"/>
                </a:solidFill>
                <a:latin typeface="Bitter" pitchFamily="34" charset="0"/>
                <a:ea typeface="Bitter" pitchFamily="34" charset="-122"/>
                <a:cs typeface="Bitter" pitchFamily="34" charset="-120"/>
              </a:rPr>
              <a:t> operator when you want flexibility, </a:t>
            </a:r>
            <a:pPr algn="l" indent="0" marL="0">
              <a:lnSpc>
                <a:spcPts val="1600"/>
              </a:lnSpc>
              <a:buNone/>
            </a:pPr>
            <a:r>
              <a:rPr lang="en-US" sz="1150" dirty="0">
                <a:solidFill>
                  <a:srgbClr val="FFFFFF"/>
                </a:solidFill>
                <a:highlight>
                  <a:srgbClr val="292A2C"/>
                </a:highlight>
                <a:latin typeface="Consolas" pitchFamily="34" charset="0"/>
                <a:ea typeface="Consolas" pitchFamily="34" charset="-122"/>
                <a:cs typeface="Consolas" pitchFamily="34" charset="-120"/>
              </a:rPr>
              <a:t>Equal</a:t>
            </a:r>
            <a:pPr algn="l" indent="0" marL="0">
              <a:lnSpc>
                <a:spcPts val="1600"/>
              </a:lnSpc>
              <a:buNone/>
            </a:pPr>
            <a:r>
              <a:rPr lang="en-US" sz="1150" dirty="0">
                <a:solidFill>
                  <a:srgbClr val="FFFFFF"/>
                </a:solidFill>
                <a:latin typeface="Bitter" pitchFamily="34" charset="0"/>
                <a:ea typeface="Bitter" pitchFamily="34" charset="-122"/>
                <a:cs typeface="Bitter" pitchFamily="34" charset="-120"/>
              </a:rPr>
              <a:t> when you need precise control. Most CKA scenarios use </a:t>
            </a:r>
            <a:pPr algn="l" indent="0" marL="0">
              <a:lnSpc>
                <a:spcPts val="1600"/>
              </a:lnSpc>
              <a:buNone/>
            </a:pPr>
            <a:r>
              <a:rPr lang="en-US" sz="1150" dirty="0">
                <a:solidFill>
                  <a:srgbClr val="FFFFFF"/>
                </a:solidFill>
                <a:highlight>
                  <a:srgbClr val="292A2C"/>
                </a:highlight>
                <a:latin typeface="Consolas" pitchFamily="34" charset="0"/>
                <a:ea typeface="Consolas" pitchFamily="34" charset="-122"/>
                <a:cs typeface="Consolas" pitchFamily="34" charset="-120"/>
              </a:rPr>
              <a:t>Equal</a:t>
            </a:r>
            <a:pPr algn="l" indent="0" marL="0">
              <a:lnSpc>
                <a:spcPts val="1600"/>
              </a:lnSpc>
              <a:buNone/>
            </a:pPr>
            <a:r>
              <a:rPr lang="en-US" sz="1150" dirty="0">
                <a:solidFill>
                  <a:srgbClr val="FFFFFF"/>
                </a:solidFill>
                <a:latin typeface="Bitter" pitchFamily="34" charset="0"/>
                <a:ea typeface="Bitter" pitchFamily="34" charset="-122"/>
                <a:cs typeface="Bitter" pitchFamily="34" charset="-120"/>
              </a:rPr>
              <a: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659725"/>
            <a:ext cx="6466999" cy="465177"/>
          </a:xfrm>
          <a:prstGeom prst="rect">
            <a:avLst/>
          </a:prstGeom>
          <a:noFill/>
          <a:ln/>
        </p:spPr>
        <p:txBody>
          <a:bodyPr wrap="none" lIns="0" tIns="0" rIns="0" bIns="0" rtlCol="0" anchor="t"/>
          <a:lstStyle/>
          <a:p>
            <a:pPr algn="l" indent="0" marL="0">
              <a:lnSpc>
                <a:spcPts val="3650"/>
              </a:lnSpc>
              <a:buNone/>
            </a:pPr>
            <a:r>
              <a:rPr lang="en-US" sz="2900" b="1" dirty="0">
                <a:solidFill>
                  <a:srgbClr val="E1E5CD"/>
                </a:solidFill>
                <a:latin typeface="Outfit Bold" pitchFamily="34" charset="0"/>
                <a:ea typeface="Outfit Bold" pitchFamily="34" charset="-122"/>
                <a:cs typeface="Outfit Bold" pitchFamily="34" charset="-120"/>
              </a:rPr>
              <a:t>NoExecute Effect + tolerationSeconds</a:t>
            </a:r>
            <a:endParaRPr lang="en-US" sz="2900" dirty="0"/>
          </a:p>
        </p:txBody>
      </p:sp>
      <p:sp>
        <p:nvSpPr>
          <p:cNvPr id="3" name="Text 1"/>
          <p:cNvSpPr/>
          <p:nvPr/>
        </p:nvSpPr>
        <p:spPr>
          <a:xfrm>
            <a:off x="793790" y="1348145"/>
            <a:ext cx="13042821" cy="424339"/>
          </a:xfrm>
          <a:prstGeom prst="rect">
            <a:avLst/>
          </a:prstGeom>
          <a:noFill/>
          <a:ln/>
        </p:spPr>
        <p:txBody>
          <a:bodyPr wrap="square" lIns="0" tIns="0" rIns="0" bIns="0" rtlCol="0" anchor="t"/>
          <a:lstStyle/>
          <a:p>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The </a:t>
            </a:r>
            <a:pPr algn="l" indent="0" marL="0">
              <a:lnSpc>
                <a:spcPts val="1600"/>
              </a:lnSpc>
              <a:buNone/>
            </a:pPr>
            <a:r>
              <a:rPr lang="en-US" sz="1150" dirty="0">
                <a:solidFill>
                  <a:srgbClr val="C2C4B5"/>
                </a:solidFill>
                <a:highlight>
                  <a:srgbClr val="292A2C"/>
                </a:highlight>
                <a:latin typeface="Consolas" pitchFamily="34" charset="0"/>
                <a:ea typeface="Consolas" pitchFamily="34" charset="-122"/>
                <a:cs typeface="Consolas" pitchFamily="34" charset="-120"/>
              </a:rPr>
              <a:t>NoExecute</a:t>
            </a:r>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 effect combined with </a:t>
            </a:r>
            <a:pPr algn="l" indent="0" marL="0">
              <a:lnSpc>
                <a:spcPts val="1600"/>
              </a:lnSpc>
              <a:buNone/>
            </a:pPr>
            <a:r>
              <a:rPr lang="en-US" sz="1150" dirty="0">
                <a:solidFill>
                  <a:srgbClr val="C2C4B5"/>
                </a:solidFill>
                <a:highlight>
                  <a:srgbClr val="292A2C"/>
                </a:highlight>
                <a:latin typeface="Consolas" pitchFamily="34" charset="0"/>
                <a:ea typeface="Consolas" pitchFamily="34" charset="-122"/>
                <a:cs typeface="Consolas" pitchFamily="34" charset="-120"/>
              </a:rPr>
              <a:t>tolerationSeconds</a:t>
            </a:r>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 is one of the most advanced and frequently tested toleration concepts. This allows you to control how long existing pods can remain on nodes when taints are applied.</a:t>
            </a:r>
            <a:endParaRPr lang="en-US" sz="1150" dirty="0"/>
          </a:p>
        </p:txBody>
      </p:sp>
      <p:sp>
        <p:nvSpPr>
          <p:cNvPr id="4" name="Shape 2"/>
          <p:cNvSpPr/>
          <p:nvPr/>
        </p:nvSpPr>
        <p:spPr>
          <a:xfrm>
            <a:off x="793790" y="3001089"/>
            <a:ext cx="13042821" cy="15240"/>
          </a:xfrm>
          <a:prstGeom prst="roundRect">
            <a:avLst>
              <a:gd name="adj" fmla="val 146512"/>
            </a:avLst>
          </a:prstGeom>
          <a:solidFill>
            <a:srgbClr val="545557"/>
          </a:solidFill>
          <a:ln/>
        </p:spPr>
      </p:sp>
      <p:sp>
        <p:nvSpPr>
          <p:cNvPr id="5" name="Shape 3"/>
          <p:cNvSpPr/>
          <p:nvPr/>
        </p:nvSpPr>
        <p:spPr>
          <a:xfrm>
            <a:off x="3352681" y="2554665"/>
            <a:ext cx="15240" cy="446484"/>
          </a:xfrm>
          <a:prstGeom prst="roundRect">
            <a:avLst>
              <a:gd name="adj" fmla="val 146512"/>
            </a:avLst>
          </a:prstGeom>
          <a:solidFill>
            <a:srgbClr val="545557"/>
          </a:solidFill>
          <a:ln/>
        </p:spPr>
      </p:sp>
      <p:sp>
        <p:nvSpPr>
          <p:cNvPr id="6" name="Shape 4"/>
          <p:cNvSpPr/>
          <p:nvPr/>
        </p:nvSpPr>
        <p:spPr>
          <a:xfrm>
            <a:off x="3192899" y="2833628"/>
            <a:ext cx="334923" cy="334923"/>
          </a:xfrm>
          <a:prstGeom prst="roundRect">
            <a:avLst>
              <a:gd name="adj" fmla="val 6667"/>
            </a:avLst>
          </a:prstGeom>
          <a:solidFill>
            <a:srgbClr val="3B3C3E"/>
          </a:solidFill>
          <a:ln/>
        </p:spPr>
      </p:sp>
      <p:sp>
        <p:nvSpPr>
          <p:cNvPr id="7" name="Text 5"/>
          <p:cNvSpPr/>
          <p:nvPr/>
        </p:nvSpPr>
        <p:spPr>
          <a:xfrm>
            <a:off x="3248680" y="2861489"/>
            <a:ext cx="223242" cy="279083"/>
          </a:xfrm>
          <a:prstGeom prst="rect">
            <a:avLst/>
          </a:prstGeom>
          <a:noFill/>
          <a:ln/>
        </p:spPr>
        <p:txBody>
          <a:bodyPr wrap="none" lIns="0" tIns="0" rIns="0" bIns="0" rtlCol="0" anchor="t"/>
          <a:lstStyle/>
          <a:p>
            <a:pPr algn="ctr" indent="0" marL="0">
              <a:lnSpc>
                <a:spcPts val="1750"/>
              </a:lnSpc>
              <a:buNone/>
            </a:pPr>
            <a:r>
              <a:rPr lang="en-US" sz="1750" b="1" dirty="0">
                <a:solidFill>
                  <a:srgbClr val="C2C4B5"/>
                </a:solidFill>
                <a:latin typeface="Outfit Bold" pitchFamily="34" charset="0"/>
                <a:ea typeface="Outfit Bold" pitchFamily="34" charset="-122"/>
                <a:cs typeface="Outfit Bold" pitchFamily="34" charset="-120"/>
              </a:rPr>
              <a:t>1</a:t>
            </a:r>
            <a:endParaRPr lang="en-US" sz="1750" dirty="0"/>
          </a:p>
        </p:txBody>
      </p:sp>
      <p:sp>
        <p:nvSpPr>
          <p:cNvPr id="8" name="Text 6"/>
          <p:cNvSpPr/>
          <p:nvPr/>
        </p:nvSpPr>
        <p:spPr>
          <a:xfrm>
            <a:off x="2430185" y="1897975"/>
            <a:ext cx="1860590" cy="232529"/>
          </a:xfrm>
          <a:prstGeom prst="rect">
            <a:avLst/>
          </a:prstGeom>
          <a:noFill/>
          <a:ln/>
        </p:spPr>
        <p:txBody>
          <a:bodyPr wrap="none" lIns="0" tIns="0" rIns="0" bIns="0" rtlCol="0" anchor="t"/>
          <a:lstStyle/>
          <a:p>
            <a:pPr algn="ctr" indent="0" marL="0">
              <a:lnSpc>
                <a:spcPts val="1800"/>
              </a:lnSpc>
              <a:buNone/>
            </a:pPr>
            <a:r>
              <a:rPr lang="en-US" sz="1450" b="1" dirty="0">
                <a:solidFill>
                  <a:srgbClr val="C2C4B5"/>
                </a:solidFill>
                <a:latin typeface="Outfit Bold" pitchFamily="34" charset="0"/>
                <a:ea typeface="Outfit Bold" pitchFamily="34" charset="-122"/>
                <a:cs typeface="Outfit Bold" pitchFamily="34" charset="-120"/>
              </a:rPr>
              <a:t>Time 0: Pod Running</a:t>
            </a:r>
            <a:endParaRPr lang="en-US" sz="1450" dirty="0"/>
          </a:p>
        </p:txBody>
      </p:sp>
      <p:sp>
        <p:nvSpPr>
          <p:cNvPr id="9" name="Text 7"/>
          <p:cNvSpPr/>
          <p:nvPr/>
        </p:nvSpPr>
        <p:spPr>
          <a:xfrm>
            <a:off x="942618" y="2197418"/>
            <a:ext cx="4835723" cy="208359"/>
          </a:xfrm>
          <a:prstGeom prst="rect">
            <a:avLst/>
          </a:prstGeom>
          <a:noFill/>
          <a:ln/>
        </p:spPr>
        <p:txBody>
          <a:bodyPr wrap="none" lIns="0" tIns="0" rIns="0" bIns="0" rtlCol="0" anchor="t"/>
          <a:lstStyle/>
          <a:p>
            <a:pPr algn="ctr" indent="0" marL="0">
              <a:lnSpc>
                <a:spcPts val="1600"/>
              </a:lnSpc>
              <a:buNone/>
            </a:pPr>
            <a:r>
              <a:rPr lang="en-US" sz="1150" dirty="0">
                <a:solidFill>
                  <a:srgbClr val="C2C4B5"/>
                </a:solidFill>
                <a:latin typeface="Bitter" pitchFamily="34" charset="0"/>
                <a:ea typeface="Bitter" pitchFamily="34" charset="-122"/>
                <a:cs typeface="Bitter" pitchFamily="34" charset="-120"/>
              </a:rPr>
              <a:t>Pod is happily running on node without any matching taints</a:t>
            </a:r>
            <a:endParaRPr lang="en-US" sz="1150" dirty="0"/>
          </a:p>
        </p:txBody>
      </p:sp>
      <p:sp>
        <p:nvSpPr>
          <p:cNvPr id="10" name="Shape 8"/>
          <p:cNvSpPr/>
          <p:nvPr/>
        </p:nvSpPr>
        <p:spPr>
          <a:xfrm>
            <a:off x="5989082" y="3001030"/>
            <a:ext cx="15240" cy="446484"/>
          </a:xfrm>
          <a:prstGeom prst="roundRect">
            <a:avLst>
              <a:gd name="adj" fmla="val 146512"/>
            </a:avLst>
          </a:prstGeom>
          <a:solidFill>
            <a:srgbClr val="545557"/>
          </a:solidFill>
          <a:ln/>
        </p:spPr>
      </p:sp>
      <p:sp>
        <p:nvSpPr>
          <p:cNvPr id="11" name="Shape 9"/>
          <p:cNvSpPr/>
          <p:nvPr/>
        </p:nvSpPr>
        <p:spPr>
          <a:xfrm>
            <a:off x="5829300" y="2833628"/>
            <a:ext cx="334923" cy="334923"/>
          </a:xfrm>
          <a:prstGeom prst="roundRect">
            <a:avLst>
              <a:gd name="adj" fmla="val 6667"/>
            </a:avLst>
          </a:prstGeom>
          <a:solidFill>
            <a:srgbClr val="3B3C3E"/>
          </a:solidFill>
          <a:ln/>
        </p:spPr>
      </p:sp>
      <p:sp>
        <p:nvSpPr>
          <p:cNvPr id="12" name="Text 10"/>
          <p:cNvSpPr/>
          <p:nvPr/>
        </p:nvSpPr>
        <p:spPr>
          <a:xfrm>
            <a:off x="5885081" y="2861489"/>
            <a:ext cx="223242" cy="279083"/>
          </a:xfrm>
          <a:prstGeom prst="rect">
            <a:avLst/>
          </a:prstGeom>
          <a:noFill/>
          <a:ln/>
        </p:spPr>
        <p:txBody>
          <a:bodyPr wrap="none" lIns="0" tIns="0" rIns="0" bIns="0" rtlCol="0" anchor="t"/>
          <a:lstStyle/>
          <a:p>
            <a:pPr algn="ctr" indent="0" marL="0">
              <a:lnSpc>
                <a:spcPts val="1750"/>
              </a:lnSpc>
              <a:buNone/>
            </a:pPr>
            <a:r>
              <a:rPr lang="en-US" sz="1750" b="1" dirty="0">
                <a:solidFill>
                  <a:srgbClr val="C2C4B5"/>
                </a:solidFill>
                <a:latin typeface="Outfit Bold" pitchFamily="34" charset="0"/>
                <a:ea typeface="Outfit Bold" pitchFamily="34" charset="-122"/>
                <a:cs typeface="Outfit Bold" pitchFamily="34" charset="-120"/>
              </a:rPr>
              <a:t>2</a:t>
            </a:r>
            <a:endParaRPr lang="en-US" sz="1750" dirty="0"/>
          </a:p>
        </p:txBody>
      </p:sp>
      <p:sp>
        <p:nvSpPr>
          <p:cNvPr id="13" name="Text 11"/>
          <p:cNvSpPr/>
          <p:nvPr/>
        </p:nvSpPr>
        <p:spPr>
          <a:xfrm>
            <a:off x="5066586" y="3596402"/>
            <a:ext cx="1860590" cy="232529"/>
          </a:xfrm>
          <a:prstGeom prst="rect">
            <a:avLst/>
          </a:prstGeom>
          <a:noFill/>
          <a:ln/>
        </p:spPr>
        <p:txBody>
          <a:bodyPr wrap="none" lIns="0" tIns="0" rIns="0" bIns="0" rtlCol="0" anchor="t"/>
          <a:lstStyle/>
          <a:p>
            <a:pPr algn="ctr" indent="0" marL="0">
              <a:lnSpc>
                <a:spcPts val="1800"/>
              </a:lnSpc>
              <a:buNone/>
            </a:pPr>
            <a:r>
              <a:rPr lang="en-US" sz="1450" b="1" dirty="0">
                <a:solidFill>
                  <a:srgbClr val="C2C4B5"/>
                </a:solidFill>
                <a:latin typeface="Outfit Bold" pitchFamily="34" charset="0"/>
                <a:ea typeface="Outfit Bold" pitchFamily="34" charset="-122"/>
                <a:cs typeface="Outfit Bold" pitchFamily="34" charset="-120"/>
              </a:rPr>
              <a:t>Time 0: Taint Applied</a:t>
            </a:r>
            <a:endParaRPr lang="en-US" sz="1450" dirty="0"/>
          </a:p>
        </p:txBody>
      </p:sp>
      <p:sp>
        <p:nvSpPr>
          <p:cNvPr id="14" name="Text 12"/>
          <p:cNvSpPr/>
          <p:nvPr/>
        </p:nvSpPr>
        <p:spPr>
          <a:xfrm>
            <a:off x="3579019" y="3895844"/>
            <a:ext cx="4835723" cy="215979"/>
          </a:xfrm>
          <a:prstGeom prst="rect">
            <a:avLst/>
          </a:prstGeom>
          <a:noFill/>
          <a:ln/>
        </p:spPr>
        <p:txBody>
          <a:bodyPr wrap="none" lIns="0" tIns="0" rIns="0" bIns="0" rtlCol="0" anchor="t"/>
          <a:lstStyle/>
          <a:p>
            <a:pPr algn="ctr" indent="0" marL="0">
              <a:lnSpc>
                <a:spcPts val="1600"/>
              </a:lnSpc>
              <a:buNone/>
            </a:pPr>
            <a:r>
              <a:rPr lang="en-US" sz="1150" dirty="0">
                <a:solidFill>
                  <a:srgbClr val="C2C4B5"/>
                </a:solidFill>
                <a:latin typeface="Bitter" pitchFamily="34" charset="0"/>
                <a:ea typeface="Bitter" pitchFamily="34" charset="-122"/>
                <a:cs typeface="Bitter" pitchFamily="34" charset="-120"/>
              </a:rPr>
              <a:t>Administrator adds </a:t>
            </a:r>
            <a:pPr algn="ctr" indent="0" marL="0">
              <a:lnSpc>
                <a:spcPts val="1600"/>
              </a:lnSpc>
              <a:buNone/>
            </a:pPr>
            <a:r>
              <a:rPr lang="en-US" sz="1150" dirty="0">
                <a:solidFill>
                  <a:srgbClr val="C2C4B5"/>
                </a:solidFill>
                <a:highlight>
                  <a:srgbClr val="292A2C"/>
                </a:highlight>
                <a:latin typeface="Consolas" pitchFamily="34" charset="0"/>
                <a:ea typeface="Consolas" pitchFamily="34" charset="-122"/>
                <a:cs typeface="Consolas" pitchFamily="34" charset="-120"/>
              </a:rPr>
              <a:t>NoExecute</a:t>
            </a:r>
            <a:pPr algn="ctr" indent="0" marL="0">
              <a:lnSpc>
                <a:spcPts val="1600"/>
              </a:lnSpc>
              <a:buNone/>
            </a:pPr>
            <a:r>
              <a:rPr lang="en-US" sz="1150" dirty="0">
                <a:solidFill>
                  <a:srgbClr val="C2C4B5"/>
                </a:solidFill>
                <a:latin typeface="Bitter" pitchFamily="34" charset="0"/>
                <a:ea typeface="Bitter" pitchFamily="34" charset="-122"/>
                <a:cs typeface="Bitter" pitchFamily="34" charset="-120"/>
              </a:rPr>
              <a:t> taint to the node</a:t>
            </a:r>
            <a:endParaRPr lang="en-US" sz="1150" dirty="0"/>
          </a:p>
        </p:txBody>
      </p:sp>
      <p:sp>
        <p:nvSpPr>
          <p:cNvPr id="15" name="Shape 13"/>
          <p:cNvSpPr/>
          <p:nvPr/>
        </p:nvSpPr>
        <p:spPr>
          <a:xfrm>
            <a:off x="8625602" y="2554665"/>
            <a:ext cx="15240" cy="446484"/>
          </a:xfrm>
          <a:prstGeom prst="roundRect">
            <a:avLst>
              <a:gd name="adj" fmla="val 146512"/>
            </a:avLst>
          </a:prstGeom>
          <a:solidFill>
            <a:srgbClr val="545557"/>
          </a:solidFill>
          <a:ln/>
        </p:spPr>
      </p:sp>
      <p:sp>
        <p:nvSpPr>
          <p:cNvPr id="16" name="Shape 14"/>
          <p:cNvSpPr/>
          <p:nvPr/>
        </p:nvSpPr>
        <p:spPr>
          <a:xfrm>
            <a:off x="8465820" y="2833628"/>
            <a:ext cx="334923" cy="334923"/>
          </a:xfrm>
          <a:prstGeom prst="roundRect">
            <a:avLst>
              <a:gd name="adj" fmla="val 6667"/>
            </a:avLst>
          </a:prstGeom>
          <a:solidFill>
            <a:srgbClr val="3B3C3E"/>
          </a:solidFill>
          <a:ln/>
        </p:spPr>
      </p:sp>
      <p:sp>
        <p:nvSpPr>
          <p:cNvPr id="17" name="Text 15"/>
          <p:cNvSpPr/>
          <p:nvPr/>
        </p:nvSpPr>
        <p:spPr>
          <a:xfrm>
            <a:off x="8521601" y="2861489"/>
            <a:ext cx="223242" cy="279083"/>
          </a:xfrm>
          <a:prstGeom prst="rect">
            <a:avLst/>
          </a:prstGeom>
          <a:noFill/>
          <a:ln/>
        </p:spPr>
        <p:txBody>
          <a:bodyPr wrap="none" lIns="0" tIns="0" rIns="0" bIns="0" rtlCol="0" anchor="t"/>
          <a:lstStyle/>
          <a:p>
            <a:pPr algn="ctr" indent="0" marL="0">
              <a:lnSpc>
                <a:spcPts val="1750"/>
              </a:lnSpc>
              <a:buNone/>
            </a:pPr>
            <a:r>
              <a:rPr lang="en-US" sz="1750" b="1" dirty="0">
                <a:solidFill>
                  <a:srgbClr val="C2C4B5"/>
                </a:solidFill>
                <a:latin typeface="Outfit Bold" pitchFamily="34" charset="0"/>
                <a:ea typeface="Outfit Bold" pitchFamily="34" charset="-122"/>
                <a:cs typeface="Outfit Bold" pitchFamily="34" charset="-120"/>
              </a:rPr>
              <a:t>3</a:t>
            </a:r>
            <a:endParaRPr lang="en-US" sz="1750" dirty="0"/>
          </a:p>
        </p:txBody>
      </p:sp>
      <p:sp>
        <p:nvSpPr>
          <p:cNvPr id="18" name="Text 16"/>
          <p:cNvSpPr/>
          <p:nvPr/>
        </p:nvSpPr>
        <p:spPr>
          <a:xfrm>
            <a:off x="7246739" y="1897975"/>
            <a:ext cx="2773323" cy="232529"/>
          </a:xfrm>
          <a:prstGeom prst="rect">
            <a:avLst/>
          </a:prstGeom>
          <a:noFill/>
          <a:ln/>
        </p:spPr>
        <p:txBody>
          <a:bodyPr wrap="none" lIns="0" tIns="0" rIns="0" bIns="0" rtlCol="0" anchor="t"/>
          <a:lstStyle/>
          <a:p>
            <a:pPr algn="ctr" indent="0" marL="0">
              <a:lnSpc>
                <a:spcPts val="1800"/>
              </a:lnSpc>
              <a:buNone/>
            </a:pPr>
            <a:r>
              <a:rPr lang="en-US" sz="1450" b="1" dirty="0">
                <a:solidFill>
                  <a:srgbClr val="C2C4B5"/>
                </a:solidFill>
                <a:latin typeface="Outfit Bold" pitchFamily="34" charset="0"/>
                <a:ea typeface="Outfit Bold" pitchFamily="34" charset="-122"/>
                <a:cs typeface="Outfit Bold" pitchFamily="34" charset="-120"/>
              </a:rPr>
              <a:t>tolerationSeconds: Grace Period</a:t>
            </a:r>
            <a:endParaRPr lang="en-US" sz="1450" dirty="0"/>
          </a:p>
        </p:txBody>
      </p:sp>
      <p:sp>
        <p:nvSpPr>
          <p:cNvPr id="19" name="Text 17"/>
          <p:cNvSpPr/>
          <p:nvPr/>
        </p:nvSpPr>
        <p:spPr>
          <a:xfrm>
            <a:off x="6215539" y="2197418"/>
            <a:ext cx="4835723" cy="208359"/>
          </a:xfrm>
          <a:prstGeom prst="rect">
            <a:avLst/>
          </a:prstGeom>
          <a:noFill/>
          <a:ln/>
        </p:spPr>
        <p:txBody>
          <a:bodyPr wrap="none" lIns="0" tIns="0" rIns="0" bIns="0" rtlCol="0" anchor="t"/>
          <a:lstStyle/>
          <a:p>
            <a:pPr algn="ctr" indent="0" marL="0">
              <a:lnSpc>
                <a:spcPts val="1600"/>
              </a:lnSpc>
              <a:buNone/>
            </a:pPr>
            <a:r>
              <a:rPr lang="en-US" sz="1150" dirty="0">
                <a:solidFill>
                  <a:srgbClr val="C2C4B5"/>
                </a:solidFill>
                <a:latin typeface="Bitter" pitchFamily="34" charset="0"/>
                <a:ea typeface="Bitter" pitchFamily="34" charset="-122"/>
                <a:cs typeface="Bitter" pitchFamily="34" charset="-120"/>
              </a:rPr>
              <a:t>Pod with matching toleration stays running for specified duration</a:t>
            </a:r>
            <a:endParaRPr lang="en-US" sz="1150" dirty="0"/>
          </a:p>
        </p:txBody>
      </p:sp>
      <p:sp>
        <p:nvSpPr>
          <p:cNvPr id="20" name="Shape 18"/>
          <p:cNvSpPr/>
          <p:nvPr/>
        </p:nvSpPr>
        <p:spPr>
          <a:xfrm>
            <a:off x="11262003" y="3001030"/>
            <a:ext cx="15240" cy="446484"/>
          </a:xfrm>
          <a:prstGeom prst="roundRect">
            <a:avLst>
              <a:gd name="adj" fmla="val 146512"/>
            </a:avLst>
          </a:prstGeom>
          <a:solidFill>
            <a:srgbClr val="545557"/>
          </a:solidFill>
          <a:ln/>
        </p:spPr>
      </p:sp>
      <p:sp>
        <p:nvSpPr>
          <p:cNvPr id="21" name="Shape 19"/>
          <p:cNvSpPr/>
          <p:nvPr/>
        </p:nvSpPr>
        <p:spPr>
          <a:xfrm>
            <a:off x="11102221" y="2833628"/>
            <a:ext cx="334923" cy="334923"/>
          </a:xfrm>
          <a:prstGeom prst="roundRect">
            <a:avLst>
              <a:gd name="adj" fmla="val 6667"/>
            </a:avLst>
          </a:prstGeom>
          <a:solidFill>
            <a:srgbClr val="3B3C3E"/>
          </a:solidFill>
          <a:ln/>
        </p:spPr>
      </p:sp>
      <p:sp>
        <p:nvSpPr>
          <p:cNvPr id="22" name="Text 20"/>
          <p:cNvSpPr/>
          <p:nvPr/>
        </p:nvSpPr>
        <p:spPr>
          <a:xfrm>
            <a:off x="11158002" y="2861489"/>
            <a:ext cx="223242" cy="279083"/>
          </a:xfrm>
          <a:prstGeom prst="rect">
            <a:avLst/>
          </a:prstGeom>
          <a:noFill/>
          <a:ln/>
        </p:spPr>
        <p:txBody>
          <a:bodyPr wrap="none" lIns="0" tIns="0" rIns="0" bIns="0" rtlCol="0" anchor="t"/>
          <a:lstStyle/>
          <a:p>
            <a:pPr algn="ctr" indent="0" marL="0">
              <a:lnSpc>
                <a:spcPts val="1750"/>
              </a:lnSpc>
              <a:buNone/>
            </a:pPr>
            <a:r>
              <a:rPr lang="en-US" sz="1750" b="1" dirty="0">
                <a:solidFill>
                  <a:srgbClr val="C2C4B5"/>
                </a:solidFill>
                <a:latin typeface="Outfit Bold" pitchFamily="34" charset="0"/>
                <a:ea typeface="Outfit Bold" pitchFamily="34" charset="-122"/>
                <a:cs typeface="Outfit Bold" pitchFamily="34" charset="-120"/>
              </a:rPr>
              <a:t>4</a:t>
            </a:r>
            <a:endParaRPr lang="en-US" sz="1750" dirty="0"/>
          </a:p>
        </p:txBody>
      </p:sp>
      <p:sp>
        <p:nvSpPr>
          <p:cNvPr id="23" name="Text 21"/>
          <p:cNvSpPr/>
          <p:nvPr/>
        </p:nvSpPr>
        <p:spPr>
          <a:xfrm>
            <a:off x="10339507" y="3596402"/>
            <a:ext cx="1860590" cy="232529"/>
          </a:xfrm>
          <a:prstGeom prst="rect">
            <a:avLst/>
          </a:prstGeom>
          <a:noFill/>
          <a:ln/>
        </p:spPr>
        <p:txBody>
          <a:bodyPr wrap="none" lIns="0" tIns="0" rIns="0" bIns="0" rtlCol="0" anchor="t"/>
          <a:lstStyle/>
          <a:p>
            <a:pPr algn="ctr" indent="0" marL="0">
              <a:lnSpc>
                <a:spcPts val="1800"/>
              </a:lnSpc>
              <a:buNone/>
            </a:pPr>
            <a:r>
              <a:rPr lang="en-US" sz="1450" b="1" dirty="0">
                <a:solidFill>
                  <a:srgbClr val="C2C4B5"/>
                </a:solidFill>
                <a:latin typeface="Outfit Bold" pitchFamily="34" charset="0"/>
                <a:ea typeface="Outfit Bold" pitchFamily="34" charset="-122"/>
                <a:cs typeface="Outfit Bold" pitchFamily="34" charset="-120"/>
              </a:rPr>
              <a:t>After: Eviction</a:t>
            </a:r>
            <a:endParaRPr lang="en-US" sz="1450" dirty="0"/>
          </a:p>
        </p:txBody>
      </p:sp>
      <p:sp>
        <p:nvSpPr>
          <p:cNvPr id="24" name="Text 22"/>
          <p:cNvSpPr/>
          <p:nvPr/>
        </p:nvSpPr>
        <p:spPr>
          <a:xfrm>
            <a:off x="8851940" y="3895844"/>
            <a:ext cx="4835723" cy="208359"/>
          </a:xfrm>
          <a:prstGeom prst="rect">
            <a:avLst/>
          </a:prstGeom>
          <a:noFill/>
          <a:ln/>
        </p:spPr>
        <p:txBody>
          <a:bodyPr wrap="none" lIns="0" tIns="0" rIns="0" bIns="0" rtlCol="0" anchor="t"/>
          <a:lstStyle/>
          <a:p>
            <a:pPr algn="ctr" indent="0" marL="0">
              <a:lnSpc>
                <a:spcPts val="1600"/>
              </a:lnSpc>
              <a:buNone/>
            </a:pPr>
            <a:r>
              <a:rPr lang="en-US" sz="1150" dirty="0">
                <a:solidFill>
                  <a:srgbClr val="C2C4B5"/>
                </a:solidFill>
                <a:latin typeface="Bitter" pitchFamily="34" charset="0"/>
                <a:ea typeface="Bitter" pitchFamily="34" charset="-122"/>
                <a:cs typeface="Bitter" pitchFamily="34" charset="-120"/>
              </a:rPr>
              <a:t>Once grace period expires, Kubernetes evicts the pod</a:t>
            </a:r>
            <a:endParaRPr lang="en-US" sz="1150" dirty="0"/>
          </a:p>
        </p:txBody>
      </p:sp>
      <p:sp>
        <p:nvSpPr>
          <p:cNvPr id="25" name="Text 23"/>
          <p:cNvSpPr/>
          <p:nvPr/>
        </p:nvSpPr>
        <p:spPr>
          <a:xfrm>
            <a:off x="793790" y="4348877"/>
            <a:ext cx="1860590" cy="232529"/>
          </a:xfrm>
          <a:prstGeom prst="rect">
            <a:avLst/>
          </a:prstGeom>
          <a:noFill/>
          <a:ln/>
        </p:spPr>
        <p:txBody>
          <a:bodyPr wrap="none" lIns="0" tIns="0" rIns="0" bIns="0" rtlCol="0" anchor="t"/>
          <a:lstStyle/>
          <a:p>
            <a:pPr algn="l" indent="0" marL="0">
              <a:lnSpc>
                <a:spcPts val="1800"/>
              </a:lnSpc>
              <a:buNone/>
            </a:pPr>
            <a:r>
              <a:rPr lang="en-US" sz="1450" b="1" dirty="0">
                <a:solidFill>
                  <a:srgbClr val="E1E5CD"/>
                </a:solidFill>
                <a:latin typeface="Outfit Bold" pitchFamily="34" charset="0"/>
                <a:ea typeface="Outfit Bold" pitchFamily="34" charset="-122"/>
                <a:cs typeface="Outfit Bold" pitchFamily="34" charset="-120"/>
              </a:rPr>
              <a:t>YAML Example</a:t>
            </a:r>
            <a:endParaRPr lang="en-US" sz="1450" dirty="0"/>
          </a:p>
        </p:txBody>
      </p:sp>
      <p:sp>
        <p:nvSpPr>
          <p:cNvPr id="26" name="Shape 24"/>
          <p:cNvSpPr/>
          <p:nvPr/>
        </p:nvSpPr>
        <p:spPr>
          <a:xfrm>
            <a:off x="793790" y="4706898"/>
            <a:ext cx="6339840" cy="1547813"/>
          </a:xfrm>
          <a:prstGeom prst="roundRect">
            <a:avLst>
              <a:gd name="adj" fmla="val 1443"/>
            </a:avLst>
          </a:prstGeom>
          <a:solidFill>
            <a:srgbClr val="292A2C"/>
          </a:solidFill>
          <a:ln/>
        </p:spPr>
      </p:sp>
      <p:sp>
        <p:nvSpPr>
          <p:cNvPr id="27" name="Shape 25"/>
          <p:cNvSpPr/>
          <p:nvPr/>
        </p:nvSpPr>
        <p:spPr>
          <a:xfrm>
            <a:off x="786408" y="4706898"/>
            <a:ext cx="6354604" cy="1547813"/>
          </a:xfrm>
          <a:prstGeom prst="roundRect">
            <a:avLst>
              <a:gd name="adj" fmla="val 1443"/>
            </a:avLst>
          </a:prstGeom>
          <a:solidFill>
            <a:srgbClr val="292A2C"/>
          </a:solidFill>
          <a:ln/>
        </p:spPr>
      </p:sp>
      <p:sp>
        <p:nvSpPr>
          <p:cNvPr id="28" name="Text 26"/>
          <p:cNvSpPr/>
          <p:nvPr/>
        </p:nvSpPr>
        <p:spPr>
          <a:xfrm>
            <a:off x="972383" y="4855726"/>
            <a:ext cx="5982653" cy="1250156"/>
          </a:xfrm>
          <a:prstGeom prst="rect">
            <a:avLst/>
          </a:prstGeom>
          <a:noFill/>
          <a:ln/>
        </p:spPr>
        <p:txBody>
          <a:bodyPr wrap="square" lIns="0" tIns="0" rIns="0" bIns="0" rtlCol="0" anchor="t"/>
          <a:lstStyle/>
          <a:p>
            <a:pPr algn="l" indent="0" marL="0">
              <a:lnSpc>
                <a:spcPts val="1600"/>
              </a:lnSpc>
              <a:buNone/>
            </a:pPr>
            <a:r>
              <a:rPr lang="en-US" sz="1150" dirty="0">
                <a:solidFill>
                  <a:srgbClr val="C2C4B5"/>
                </a:solidFill>
                <a:latin typeface="Consolas" pitchFamily="34" charset="0"/>
                <a:ea typeface="Consolas" pitchFamily="34" charset="-122"/>
                <a:cs typeface="Consolas" pitchFamily="34" charset="-120"/>
              </a:rPr>
              <a:t>  tolerations:</a:t>
            </a:r>
            <a:endParaRPr lang="en-US" sz="1150" dirty="0"/>
          </a:p>
          <a:p>
            <a:pPr algn="l" indent="0" marL="0">
              <a:lnSpc>
                <a:spcPts val="1600"/>
              </a:lnSpc>
              <a:buNone/>
            </a:pPr>
            <a:r>
              <a:rPr lang="en-US" sz="1150" dirty="0">
                <a:solidFill>
                  <a:srgbClr val="C2C4B5"/>
                </a:solidFill>
                <a:latin typeface="Consolas" pitchFamily="34" charset="0"/>
                <a:ea typeface="Consolas" pitchFamily="34" charset="-122"/>
                <a:cs typeface="Consolas" pitchFamily="34" charset="-120"/>
              </a:rPr>
              <a:t>  - key: "maintenance"</a:t>
            </a:r>
            <a:endParaRPr lang="en-US" sz="1150" dirty="0"/>
          </a:p>
          <a:p>
            <a:pPr algn="l" indent="0" marL="0">
              <a:lnSpc>
                <a:spcPts val="1600"/>
              </a:lnSpc>
              <a:buNone/>
            </a:pPr>
            <a:r>
              <a:rPr lang="en-US" sz="1150" dirty="0">
                <a:solidFill>
                  <a:srgbClr val="C2C4B5"/>
                </a:solidFill>
                <a:latin typeface="Consolas" pitchFamily="34" charset="0"/>
                <a:ea typeface="Consolas" pitchFamily="34" charset="-122"/>
                <a:cs typeface="Consolas" pitchFamily="34" charset="-120"/>
              </a:rPr>
              <a:t>    operator: "Equal"</a:t>
            </a:r>
            <a:endParaRPr lang="en-US" sz="1150" dirty="0"/>
          </a:p>
          <a:p>
            <a:pPr algn="l" indent="0" marL="0">
              <a:lnSpc>
                <a:spcPts val="1600"/>
              </a:lnSpc>
              <a:buNone/>
            </a:pPr>
            <a:r>
              <a:rPr lang="en-US" sz="1150" dirty="0">
                <a:solidFill>
                  <a:srgbClr val="C2C4B5"/>
                </a:solidFill>
                <a:latin typeface="Consolas" pitchFamily="34" charset="0"/>
                <a:ea typeface="Consolas" pitchFamily="34" charset="-122"/>
                <a:cs typeface="Consolas" pitchFamily="34" charset="-120"/>
              </a:rPr>
              <a:t>    value: "true"</a:t>
            </a:r>
            <a:endParaRPr lang="en-US" sz="1150" dirty="0"/>
          </a:p>
          <a:p>
            <a:pPr algn="l" indent="0" marL="0">
              <a:lnSpc>
                <a:spcPts val="1600"/>
              </a:lnSpc>
              <a:buNone/>
            </a:pPr>
            <a:r>
              <a:rPr lang="en-US" sz="1150" dirty="0">
                <a:solidFill>
                  <a:srgbClr val="C2C4B5"/>
                </a:solidFill>
                <a:latin typeface="Consolas" pitchFamily="34" charset="0"/>
                <a:ea typeface="Consolas" pitchFamily="34" charset="-122"/>
                <a:cs typeface="Consolas" pitchFamily="34" charset="-120"/>
              </a:rPr>
              <a:t>    effect: "NoExecute"</a:t>
            </a:r>
            <a:endParaRPr lang="en-US" sz="1150" dirty="0"/>
          </a:p>
          <a:p>
            <a:pPr algn="l" indent="0" marL="0">
              <a:lnSpc>
                <a:spcPts val="1600"/>
              </a:lnSpc>
              <a:buNone/>
            </a:pPr>
            <a:r>
              <a:rPr lang="en-US" sz="1150" dirty="0">
                <a:solidFill>
                  <a:srgbClr val="C2C4B5"/>
                </a:solidFill>
                <a:latin typeface="Consolas" pitchFamily="34" charset="0"/>
                <a:ea typeface="Consolas" pitchFamily="34" charset="-122"/>
                <a:cs typeface="Consolas" pitchFamily="34" charset="-120"/>
              </a:rPr>
              <a:t>    tolerationSeconds: 300</a:t>
            </a:r>
            <a:endParaRPr lang="en-US" sz="1150" dirty="0"/>
          </a:p>
        </p:txBody>
      </p:sp>
      <p:sp>
        <p:nvSpPr>
          <p:cNvPr id="29" name="Text 27"/>
          <p:cNvSpPr/>
          <p:nvPr/>
        </p:nvSpPr>
        <p:spPr>
          <a:xfrm>
            <a:off x="793790" y="6380202"/>
            <a:ext cx="6339840" cy="424339"/>
          </a:xfrm>
          <a:prstGeom prst="rect">
            <a:avLst/>
          </a:prstGeom>
          <a:noFill/>
          <a:ln/>
        </p:spPr>
        <p:txBody>
          <a:bodyPr wrap="square" lIns="0" tIns="0" rIns="0" bIns="0" rtlCol="0" anchor="t"/>
          <a:lstStyle/>
          <a:p>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This pod can remain on nodes with taint </a:t>
            </a:r>
            <a:pPr algn="l" indent="0" marL="0">
              <a:lnSpc>
                <a:spcPts val="1600"/>
              </a:lnSpc>
              <a:buNone/>
            </a:pPr>
            <a:r>
              <a:rPr lang="en-US" sz="1150" dirty="0">
                <a:solidFill>
                  <a:srgbClr val="C2C4B5"/>
                </a:solidFill>
                <a:highlight>
                  <a:srgbClr val="292A2C"/>
                </a:highlight>
                <a:latin typeface="Consolas" pitchFamily="34" charset="0"/>
                <a:ea typeface="Consolas" pitchFamily="34" charset="-122"/>
                <a:cs typeface="Consolas" pitchFamily="34" charset="-120"/>
              </a:rPr>
              <a:t>maintenance=true:NoExecute</a:t>
            </a:r>
            <a:pPr algn="l" indent="0" marL="0">
              <a:lnSpc>
                <a:spcPts val="1600"/>
              </a:lnSpc>
              <a:buNone/>
            </a:pPr>
            <a:r>
              <a:rPr lang="en-US" sz="1150" dirty="0">
                <a:solidFill>
                  <a:srgbClr val="C2C4B5"/>
                </a:solidFill>
                <a:latin typeface="Bitter" pitchFamily="34" charset="0"/>
                <a:ea typeface="Bitter" pitchFamily="34" charset="-122"/>
                <a:cs typeface="Bitter" pitchFamily="34" charset="-120"/>
              </a:rPr>
              <a:t> for 300 seconds (5 minutes) after the taint is applied.</a:t>
            </a:r>
            <a:endParaRPr lang="en-US" sz="1150" dirty="0"/>
          </a:p>
        </p:txBody>
      </p:sp>
      <p:sp>
        <p:nvSpPr>
          <p:cNvPr id="30" name="Text 28"/>
          <p:cNvSpPr/>
          <p:nvPr/>
        </p:nvSpPr>
        <p:spPr>
          <a:xfrm>
            <a:off x="7504390" y="4348877"/>
            <a:ext cx="1860590" cy="232529"/>
          </a:xfrm>
          <a:prstGeom prst="rect">
            <a:avLst/>
          </a:prstGeom>
          <a:noFill/>
          <a:ln/>
        </p:spPr>
        <p:txBody>
          <a:bodyPr wrap="none" lIns="0" tIns="0" rIns="0" bIns="0" rtlCol="0" anchor="t"/>
          <a:lstStyle/>
          <a:p>
            <a:pPr algn="l" indent="0" marL="0">
              <a:lnSpc>
                <a:spcPts val="1800"/>
              </a:lnSpc>
              <a:buNone/>
            </a:pPr>
            <a:r>
              <a:rPr lang="en-US" sz="1450" b="1" dirty="0">
                <a:solidFill>
                  <a:srgbClr val="E1E5CD"/>
                </a:solidFill>
                <a:latin typeface="Outfit Bold" pitchFamily="34" charset="0"/>
                <a:ea typeface="Outfit Bold" pitchFamily="34" charset="-122"/>
                <a:cs typeface="Outfit Bold" pitchFamily="34" charset="-120"/>
              </a:rPr>
              <a:t>Use Cases</a:t>
            </a:r>
            <a:endParaRPr lang="en-US" sz="1450" dirty="0"/>
          </a:p>
        </p:txBody>
      </p:sp>
      <p:sp>
        <p:nvSpPr>
          <p:cNvPr id="31" name="Text 29"/>
          <p:cNvSpPr/>
          <p:nvPr/>
        </p:nvSpPr>
        <p:spPr>
          <a:xfrm>
            <a:off x="7504390" y="4692968"/>
            <a:ext cx="6339840" cy="950595"/>
          </a:xfrm>
          <a:prstGeom prst="rect">
            <a:avLst/>
          </a:prstGeom>
          <a:noFill/>
          <a:ln/>
        </p:spPr>
        <p:txBody>
          <a:bodyPr wrap="square" lIns="0" tIns="0" rIns="0" bIns="0" rtlCol="0" anchor="t"/>
          <a:lstStyle/>
          <a:p>
            <a:pPr algn="l" marL="342900" indent="-342900">
              <a:lnSpc>
                <a:spcPts val="1600"/>
              </a:lnSpc>
              <a:buSzPct val="100000"/>
              <a:buChar char="•"/>
            </a:pPr>
            <a:r>
              <a:rPr lang="en-US" sz="1150" dirty="0">
                <a:solidFill>
                  <a:srgbClr val="C2C4B5"/>
                </a:solidFill>
                <a:latin typeface="Bitter" pitchFamily="34" charset="0"/>
                <a:ea typeface="Bitter" pitchFamily="34" charset="-122"/>
                <a:cs typeface="Bitter" pitchFamily="34" charset="-120"/>
              </a:rPr>
              <a:t>Graceful node maintenance windows</a:t>
            </a:r>
            <a:endParaRPr lang="en-US" sz="1150" dirty="0"/>
          </a:p>
          <a:p>
            <a:pPr algn="l" marL="342900" indent="-342900">
              <a:lnSpc>
                <a:spcPts val="1600"/>
              </a:lnSpc>
              <a:buSzPct val="100000"/>
              <a:buChar char="•"/>
            </a:pPr>
            <a:r>
              <a:rPr lang="en-US" sz="1150" dirty="0">
                <a:solidFill>
                  <a:srgbClr val="C2C4B5"/>
                </a:solidFill>
                <a:latin typeface="Bitter" pitchFamily="34" charset="0"/>
                <a:ea typeface="Bitter" pitchFamily="34" charset="-122"/>
                <a:cs typeface="Bitter" pitchFamily="34" charset="-120"/>
              </a:rPr>
              <a:t>Draining nodes without immediate disruption</a:t>
            </a:r>
            <a:endParaRPr lang="en-US" sz="1150" dirty="0"/>
          </a:p>
          <a:p>
            <a:pPr algn="l" marL="342900" indent="-342900">
              <a:lnSpc>
                <a:spcPts val="1600"/>
              </a:lnSpc>
              <a:buSzPct val="100000"/>
              <a:buChar char="•"/>
            </a:pPr>
            <a:r>
              <a:rPr lang="en-US" sz="1150" dirty="0">
                <a:solidFill>
                  <a:srgbClr val="C2C4B5"/>
                </a:solidFill>
                <a:latin typeface="Bitter" pitchFamily="34" charset="0"/>
                <a:ea typeface="Bitter" pitchFamily="34" charset="-122"/>
                <a:cs typeface="Bitter" pitchFamily="34" charset="-120"/>
              </a:rPr>
              <a:t>Allowing time for graceful shutdown</a:t>
            </a:r>
            <a:endParaRPr lang="en-US" sz="1150" dirty="0"/>
          </a:p>
          <a:p>
            <a:pPr algn="l" marL="342900" indent="-342900">
              <a:lnSpc>
                <a:spcPts val="1600"/>
              </a:lnSpc>
              <a:buSzPct val="100000"/>
              <a:buChar char="•"/>
            </a:pPr>
            <a:r>
              <a:rPr lang="en-US" sz="1150" dirty="0">
                <a:solidFill>
                  <a:srgbClr val="C2C4B5"/>
                </a:solidFill>
                <a:latin typeface="Bitter" pitchFamily="34" charset="0"/>
                <a:ea typeface="Bitter" pitchFamily="34" charset="-122"/>
                <a:cs typeface="Bitter" pitchFamily="34" charset="-120"/>
              </a:rPr>
              <a:t>Testing taints before full enforcement</a:t>
            </a:r>
            <a:endParaRPr lang="en-US" sz="1150" dirty="0"/>
          </a:p>
        </p:txBody>
      </p:sp>
      <p:sp>
        <p:nvSpPr>
          <p:cNvPr id="32" name="Shape 30"/>
          <p:cNvSpPr/>
          <p:nvPr/>
        </p:nvSpPr>
        <p:spPr>
          <a:xfrm>
            <a:off x="793790" y="7030403"/>
            <a:ext cx="13042821" cy="539472"/>
          </a:xfrm>
          <a:prstGeom prst="roundRect">
            <a:avLst>
              <a:gd name="adj" fmla="val 4139"/>
            </a:avLst>
          </a:prstGeom>
          <a:solidFill>
            <a:srgbClr val="2A2C20"/>
          </a:solidFill>
          <a:ln/>
        </p:spPr>
      </p:sp>
      <p:pic>
        <p:nvPicPr>
          <p:cNvPr id="33" name="Image 0" descr="preencoded.png">    </p:cNvPr>
          <p:cNvPicPr>
            <a:picLocks noChangeAspect="1"/>
          </p:cNvPicPr>
          <p:nvPr/>
        </p:nvPicPr>
        <p:blipFill>
          <a:blip r:embed="rId1"/>
          <a:stretch>
            <a:fillRect/>
          </a:stretch>
        </p:blipFill>
        <p:spPr>
          <a:xfrm>
            <a:off x="942618" y="7238524"/>
            <a:ext cx="185976" cy="148828"/>
          </a:xfrm>
          <a:prstGeom prst="rect">
            <a:avLst/>
          </a:prstGeom>
        </p:spPr>
      </p:pic>
      <p:sp>
        <p:nvSpPr>
          <p:cNvPr id="34" name="Text 31"/>
          <p:cNvSpPr/>
          <p:nvPr/>
        </p:nvSpPr>
        <p:spPr>
          <a:xfrm>
            <a:off x="1277422" y="7179112"/>
            <a:ext cx="12410361" cy="215979"/>
          </a:xfrm>
          <a:prstGeom prst="rect">
            <a:avLst/>
          </a:prstGeom>
          <a:noFill/>
          <a:ln/>
        </p:spPr>
        <p:txBody>
          <a:bodyPr wrap="none" lIns="0" tIns="0" rIns="0" bIns="0" rtlCol="0" anchor="t"/>
          <a:lstStyle/>
          <a:p>
            <a:pPr algn="l" indent="0" marL="0">
              <a:lnSpc>
                <a:spcPts val="1600"/>
              </a:lnSpc>
              <a:buNone/>
            </a:pPr>
            <a:r>
              <a:rPr lang="en-US" sz="1150" b="1" dirty="0">
                <a:solidFill>
                  <a:srgbClr val="FFFFFF"/>
                </a:solidFill>
                <a:latin typeface="Bitter" pitchFamily="34" charset="0"/>
                <a:ea typeface="Bitter" pitchFamily="34" charset="-122"/>
                <a:cs typeface="Bitter" pitchFamily="34" charset="-120"/>
              </a:rPr>
              <a:t>Important:</a:t>
            </a:r>
            <a:pPr algn="l" indent="0" marL="0">
              <a:lnSpc>
                <a:spcPts val="1600"/>
              </a:lnSpc>
              <a:buNone/>
            </a:pPr>
            <a:r>
              <a:rPr lang="en-US" sz="1150" dirty="0">
                <a:solidFill>
                  <a:srgbClr val="FFFFFF"/>
                </a:solidFill>
                <a:latin typeface="Bitter" pitchFamily="34" charset="0"/>
                <a:ea typeface="Bitter" pitchFamily="34" charset="-122"/>
                <a:cs typeface="Bitter" pitchFamily="34" charset="-120"/>
              </a:rPr>
              <a:t> </a:t>
            </a:r>
            <a:pPr algn="l" indent="0" marL="0">
              <a:lnSpc>
                <a:spcPts val="1600"/>
              </a:lnSpc>
              <a:buNone/>
            </a:pPr>
            <a:r>
              <a:rPr lang="en-US" sz="1150" dirty="0">
                <a:solidFill>
                  <a:srgbClr val="FFFFFF"/>
                </a:solidFill>
                <a:highlight>
                  <a:srgbClr val="292A2C"/>
                </a:highlight>
                <a:latin typeface="Consolas" pitchFamily="34" charset="0"/>
                <a:ea typeface="Consolas" pitchFamily="34" charset="-122"/>
                <a:cs typeface="Consolas" pitchFamily="34" charset="-120"/>
              </a:rPr>
              <a:t>tolerationSeconds</a:t>
            </a:r>
            <a:pPr algn="l" indent="0" marL="0">
              <a:lnSpc>
                <a:spcPts val="1600"/>
              </a:lnSpc>
              <a:buNone/>
            </a:pPr>
            <a:r>
              <a:rPr lang="en-US" sz="1150" dirty="0">
                <a:solidFill>
                  <a:srgbClr val="FFFFFF"/>
                </a:solidFill>
                <a:latin typeface="Bitter" pitchFamily="34" charset="0"/>
                <a:ea typeface="Bitter" pitchFamily="34" charset="-122"/>
                <a:cs typeface="Bitter" pitchFamily="34" charset="-120"/>
              </a:rPr>
              <a:t> only works with </a:t>
            </a:r>
            <a:pPr algn="l" indent="0" marL="0">
              <a:lnSpc>
                <a:spcPts val="1600"/>
              </a:lnSpc>
              <a:buNone/>
            </a:pPr>
            <a:r>
              <a:rPr lang="en-US" sz="1150" dirty="0">
                <a:solidFill>
                  <a:srgbClr val="FFFFFF"/>
                </a:solidFill>
                <a:highlight>
                  <a:srgbClr val="292A2C"/>
                </a:highlight>
                <a:latin typeface="Consolas" pitchFamily="34" charset="0"/>
                <a:ea typeface="Consolas" pitchFamily="34" charset="-122"/>
                <a:cs typeface="Consolas" pitchFamily="34" charset="-120"/>
              </a:rPr>
              <a:t>NoExecute</a:t>
            </a:r>
            <a:pPr algn="l" indent="0" marL="0">
              <a:lnSpc>
                <a:spcPts val="1600"/>
              </a:lnSpc>
              <a:buNone/>
            </a:pPr>
            <a:r>
              <a:rPr lang="en-US" sz="1150" dirty="0">
                <a:solidFill>
                  <a:srgbClr val="FFFFFF"/>
                </a:solidFill>
                <a:latin typeface="Bitter" pitchFamily="34" charset="0"/>
                <a:ea typeface="Bitter" pitchFamily="34" charset="-122"/>
                <a:cs typeface="Bitter" pitchFamily="34" charset="-120"/>
              </a:rPr>
              <a:t> effect. It has no meaning with </a:t>
            </a:r>
            <a:pPr algn="l" indent="0" marL="0">
              <a:lnSpc>
                <a:spcPts val="1600"/>
              </a:lnSpc>
              <a:buNone/>
            </a:pPr>
            <a:r>
              <a:rPr lang="en-US" sz="1150" dirty="0">
                <a:solidFill>
                  <a:srgbClr val="FFFFFF"/>
                </a:solidFill>
                <a:highlight>
                  <a:srgbClr val="292A2C"/>
                </a:highlight>
                <a:latin typeface="Consolas" pitchFamily="34" charset="0"/>
                <a:ea typeface="Consolas" pitchFamily="34" charset="-122"/>
                <a:cs typeface="Consolas" pitchFamily="34" charset="-120"/>
              </a:rPr>
              <a:t>NoSchedule</a:t>
            </a:r>
            <a:pPr algn="l" indent="0" marL="0">
              <a:lnSpc>
                <a:spcPts val="1600"/>
              </a:lnSpc>
              <a:buNone/>
            </a:pPr>
            <a:r>
              <a:rPr lang="en-US" sz="1150" dirty="0">
                <a:solidFill>
                  <a:srgbClr val="FFFFFF"/>
                </a:solidFill>
                <a:latin typeface="Bitter" pitchFamily="34" charset="0"/>
                <a:ea typeface="Bitter" pitchFamily="34" charset="-122"/>
                <a:cs typeface="Bitter" pitchFamily="34" charset="-120"/>
              </a:rPr>
              <a:t> or </a:t>
            </a:r>
            <a:pPr algn="l" indent="0" marL="0">
              <a:lnSpc>
                <a:spcPts val="1600"/>
              </a:lnSpc>
              <a:buNone/>
            </a:pPr>
            <a:r>
              <a:rPr lang="en-US" sz="1150" dirty="0">
                <a:solidFill>
                  <a:srgbClr val="FFFFFF"/>
                </a:solidFill>
                <a:highlight>
                  <a:srgbClr val="292A2C"/>
                </a:highlight>
                <a:latin typeface="Consolas" pitchFamily="34" charset="0"/>
                <a:ea typeface="Consolas" pitchFamily="34" charset="-122"/>
                <a:cs typeface="Consolas" pitchFamily="34" charset="-120"/>
              </a:rPr>
              <a:t>PreferNoSchedule</a:t>
            </a:r>
            <a:pPr algn="l" indent="0" marL="0">
              <a:lnSpc>
                <a:spcPts val="1600"/>
              </a:lnSpc>
              <a:buNone/>
            </a:pPr>
            <a:r>
              <a:rPr lang="en-US" sz="1150" dirty="0">
                <a:solidFill>
                  <a:srgbClr val="FFFFFF"/>
                </a:solidFill>
                <a:latin typeface="Bitter" pitchFamily="34" charset="0"/>
                <a:ea typeface="Bitter" pitchFamily="34" charset="-122"/>
                <a:cs typeface="Bitter" pitchFamily="34" charset="-120"/>
              </a:rPr>
              <a:t>. This is a common CKA trick question!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596622"/>
            <a:ext cx="8882063" cy="589121"/>
          </a:xfrm>
          <a:prstGeom prst="rect">
            <a:avLst/>
          </a:prstGeom>
          <a:noFill/>
          <a:ln/>
        </p:spPr>
        <p:txBody>
          <a:bodyPr wrap="none" lIns="0" tIns="0" rIns="0" bIns="0" rtlCol="0" anchor="t"/>
          <a:lstStyle/>
          <a:p>
            <a:pPr algn="l" indent="0" marL="0">
              <a:lnSpc>
                <a:spcPts val="4600"/>
              </a:lnSpc>
              <a:buNone/>
            </a:pPr>
            <a:r>
              <a:rPr lang="en-US" sz="3700" b="1" dirty="0">
                <a:solidFill>
                  <a:srgbClr val="E1E5CD"/>
                </a:solidFill>
                <a:latin typeface="Outfit Bold" pitchFamily="34" charset="0"/>
                <a:ea typeface="Outfit Bold" pitchFamily="34" charset="-122"/>
                <a:cs typeface="Outfit Bold" pitchFamily="34" charset="-120"/>
              </a:rPr>
              <a:t>Real-World Flow: Pod Scheduling Process</a:t>
            </a:r>
            <a:endParaRPr lang="en-US" sz="3700" dirty="0"/>
          </a:p>
        </p:txBody>
      </p:sp>
      <p:sp>
        <p:nvSpPr>
          <p:cNvPr id="3" name="Text 1"/>
          <p:cNvSpPr/>
          <p:nvPr/>
        </p:nvSpPr>
        <p:spPr>
          <a:xfrm>
            <a:off x="793790" y="1543883"/>
            <a:ext cx="13042821" cy="588407"/>
          </a:xfrm>
          <a:prstGeom prst="rect">
            <a:avLst/>
          </a:prstGeom>
          <a:noFill/>
          <a:ln/>
        </p:spPr>
        <p:txBody>
          <a:bodyPr wrap="square" lIns="0" tIns="0" rIns="0" bIns="0" rtlCol="0" anchor="t"/>
          <a:lstStyle/>
          <a:p>
            <a:pPr algn="l" indent="0" marL="0">
              <a:lnSpc>
                <a:spcPts val="2300"/>
              </a:lnSpc>
              <a:buNone/>
            </a:pPr>
            <a:r>
              <a:rPr lang="en-US" sz="1450" dirty="0">
                <a:solidFill>
                  <a:srgbClr val="C2C4B5"/>
                </a:solidFill>
                <a:latin typeface="Bitter" pitchFamily="34" charset="0"/>
                <a:ea typeface="Bitter" pitchFamily="34" charset="-122"/>
                <a:cs typeface="Bitter" pitchFamily="34" charset="-120"/>
              </a:rPr>
              <a:t>Let's walk through a complete scenario showing how a pod with tolerations gets scheduled on a tainted node. This flow is essential for debugging scheduling issues.</a:t>
            </a:r>
            <a:endParaRPr lang="en-US" sz="1450" dirty="0"/>
          </a:p>
        </p:txBody>
      </p:sp>
      <p:pic>
        <p:nvPicPr>
          <p:cNvPr id="4" name="Image 0" descr="preencoded.png">    </p:cNvPr>
          <p:cNvPicPr>
            <a:picLocks noChangeAspect="1"/>
          </p:cNvPicPr>
          <p:nvPr/>
        </p:nvPicPr>
        <p:blipFill>
          <a:blip r:embed="rId1"/>
          <a:stretch>
            <a:fillRect/>
          </a:stretch>
        </p:blipFill>
        <p:spPr>
          <a:xfrm>
            <a:off x="1170861" y="2333744"/>
            <a:ext cx="12288560" cy="5299115"/>
          </a:xfrm>
          <a:prstGeom prst="rect">
            <a:avLst/>
          </a:prstGeom>
        </p:spPr>
      </p:pic>
      <p:sp>
        <p:nvSpPr>
          <p:cNvPr id="5" name="Text 2"/>
          <p:cNvSpPr/>
          <p:nvPr/>
        </p:nvSpPr>
        <p:spPr>
          <a:xfrm>
            <a:off x="1997748" y="6627948"/>
            <a:ext cx="2787863" cy="348483"/>
          </a:xfrm>
          <a:prstGeom prst="rect">
            <a:avLst/>
          </a:prstGeom>
          <a:noFill/>
          <a:ln/>
        </p:spPr>
        <p:txBody>
          <a:bodyPr wrap="none" lIns="0" tIns="0" rIns="0" bIns="0" rtlCol="0" anchor="t"/>
          <a:lstStyle/>
          <a:p>
            <a:pPr algn="l" indent="0" marL="0">
              <a:lnSpc>
                <a:spcPts val="2700"/>
              </a:lnSpc>
              <a:buNone/>
            </a:pPr>
            <a:r>
              <a:rPr lang="en-US" sz="2150" b="1" dirty="0">
                <a:solidFill>
                  <a:srgbClr val="000000"/>
                </a:solidFill>
                <a:latin typeface="Outfit Bold" pitchFamily="34" charset="0"/>
                <a:ea typeface="Outfit Bold" pitchFamily="34" charset="-122"/>
                <a:cs typeface="Outfit Bold" pitchFamily="34" charset="-120"/>
              </a:rPr>
              <a:t>Permission Granted</a:t>
            </a:r>
            <a:endParaRPr lang="en-US" sz="2150" dirty="0"/>
          </a:p>
        </p:txBody>
      </p:sp>
      <p:sp>
        <p:nvSpPr>
          <p:cNvPr id="6" name="Text 3"/>
          <p:cNvSpPr/>
          <p:nvPr/>
        </p:nvSpPr>
        <p:spPr>
          <a:xfrm>
            <a:off x="1997748" y="5401289"/>
            <a:ext cx="2787863" cy="348483"/>
          </a:xfrm>
          <a:prstGeom prst="rect">
            <a:avLst/>
          </a:prstGeom>
          <a:noFill/>
          <a:ln/>
        </p:spPr>
        <p:txBody>
          <a:bodyPr wrap="none" lIns="0" tIns="0" rIns="0" bIns="0" rtlCol="0" anchor="t"/>
          <a:lstStyle/>
          <a:p>
            <a:pPr algn="l" indent="0" marL="0">
              <a:lnSpc>
                <a:spcPts val="2700"/>
              </a:lnSpc>
              <a:buNone/>
            </a:pPr>
            <a:r>
              <a:rPr lang="en-US" sz="2150" b="1" dirty="0">
                <a:solidFill>
                  <a:srgbClr val="000000"/>
                </a:solidFill>
                <a:latin typeface="Outfit Bold" pitchFamily="34" charset="0"/>
                <a:ea typeface="Outfit Bold" pitchFamily="34" charset="-122"/>
                <a:cs typeface="Outfit Bold" pitchFamily="34" charset="-120"/>
              </a:rPr>
              <a:t>Evaluate Tolerations</a:t>
            </a:r>
            <a:endParaRPr lang="en-US" sz="2150" dirty="0"/>
          </a:p>
        </p:txBody>
      </p:sp>
      <p:sp>
        <p:nvSpPr>
          <p:cNvPr id="7" name="Text 4"/>
          <p:cNvSpPr/>
          <p:nvPr/>
        </p:nvSpPr>
        <p:spPr>
          <a:xfrm>
            <a:off x="1997748" y="4187020"/>
            <a:ext cx="3072263" cy="348483"/>
          </a:xfrm>
          <a:prstGeom prst="rect">
            <a:avLst/>
          </a:prstGeom>
          <a:noFill/>
          <a:ln/>
        </p:spPr>
        <p:txBody>
          <a:bodyPr wrap="none" lIns="0" tIns="0" rIns="0" bIns="0" rtlCol="0" anchor="t"/>
          <a:lstStyle/>
          <a:p>
            <a:pPr algn="l" indent="0" marL="0">
              <a:lnSpc>
                <a:spcPts val="2700"/>
              </a:lnSpc>
              <a:buNone/>
            </a:pPr>
            <a:r>
              <a:rPr lang="en-US" sz="2150" b="1" dirty="0">
                <a:solidFill>
                  <a:srgbClr val="000000"/>
                </a:solidFill>
                <a:latin typeface="Outfit Bold" pitchFamily="34" charset="0"/>
                <a:ea typeface="Outfit Bold" pitchFamily="34" charset="-122"/>
                <a:cs typeface="Outfit Bold" pitchFamily="34" charset="-120"/>
              </a:rPr>
              <a:t>Scheduler Checks Taints</a:t>
            </a:r>
            <a:endParaRPr lang="en-US" sz="2150" dirty="0"/>
          </a:p>
        </p:txBody>
      </p:sp>
      <p:sp>
        <p:nvSpPr>
          <p:cNvPr id="8" name="Text 5"/>
          <p:cNvSpPr/>
          <p:nvPr/>
        </p:nvSpPr>
        <p:spPr>
          <a:xfrm>
            <a:off x="1997748" y="2960360"/>
            <a:ext cx="2787863" cy="348483"/>
          </a:xfrm>
          <a:prstGeom prst="rect">
            <a:avLst/>
          </a:prstGeom>
          <a:noFill/>
          <a:ln/>
        </p:spPr>
        <p:txBody>
          <a:bodyPr wrap="none" lIns="0" tIns="0" rIns="0" bIns="0" rtlCol="0" anchor="t"/>
          <a:lstStyle/>
          <a:p>
            <a:pPr algn="l" indent="0" marL="0">
              <a:lnSpc>
                <a:spcPts val="2700"/>
              </a:lnSpc>
              <a:buNone/>
            </a:pPr>
            <a:r>
              <a:rPr lang="en-US" sz="2150" b="1" dirty="0">
                <a:solidFill>
                  <a:srgbClr val="000000"/>
                </a:solidFill>
                <a:latin typeface="Outfit Bold" pitchFamily="34" charset="0"/>
                <a:ea typeface="Outfit Bold" pitchFamily="34" charset="-122"/>
                <a:cs typeface="Outfit Bold" pitchFamily="34" charset="-120"/>
              </a:rPr>
              <a:t>Pod Created</a:t>
            </a:r>
            <a:endParaRPr lang="en-US" sz="2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252418"/>
            <a:ext cx="5917406" cy="620078"/>
          </a:xfrm>
          <a:prstGeom prst="rect">
            <a:avLst/>
          </a:prstGeom>
          <a:noFill/>
          <a:ln/>
        </p:spPr>
        <p:txBody>
          <a:bodyPr wrap="none" lIns="0" tIns="0" rIns="0" bIns="0" rtlCol="0" anchor="t"/>
          <a:lstStyle/>
          <a:p>
            <a:pPr algn="l" indent="0" marL="0">
              <a:lnSpc>
                <a:spcPts val="4850"/>
              </a:lnSpc>
              <a:buNone/>
            </a:pPr>
            <a:r>
              <a:rPr lang="en-US" sz="3900" b="1" dirty="0">
                <a:solidFill>
                  <a:srgbClr val="E1E5CD"/>
                </a:solidFill>
                <a:latin typeface="Outfit Bold" pitchFamily="34" charset="0"/>
                <a:ea typeface="Outfit Bold" pitchFamily="34" charset="-122"/>
                <a:cs typeface="Outfit Bold" pitchFamily="34" charset="-120"/>
              </a:rPr>
              <a:t>Summary: Key Takeaways</a:t>
            </a:r>
            <a:endParaRPr lang="en-US" sz="3900" dirty="0"/>
          </a:p>
        </p:txBody>
      </p:sp>
      <p:sp>
        <p:nvSpPr>
          <p:cNvPr id="3" name="Shape 1"/>
          <p:cNvSpPr/>
          <p:nvPr/>
        </p:nvSpPr>
        <p:spPr>
          <a:xfrm>
            <a:off x="793790" y="2269331"/>
            <a:ext cx="6422231" cy="2254687"/>
          </a:xfrm>
          <a:prstGeom prst="roundRect">
            <a:avLst>
              <a:gd name="adj" fmla="val 1320"/>
            </a:avLst>
          </a:prstGeom>
          <a:solidFill>
            <a:srgbClr val="3B3C3E"/>
          </a:solidFill>
          <a:ln/>
        </p:spPr>
      </p:sp>
      <p:sp>
        <p:nvSpPr>
          <p:cNvPr id="4" name="Shape 2"/>
          <p:cNvSpPr/>
          <p:nvPr/>
        </p:nvSpPr>
        <p:spPr>
          <a:xfrm>
            <a:off x="992148" y="2467689"/>
            <a:ext cx="595313" cy="595313"/>
          </a:xfrm>
          <a:prstGeom prst="roundRect">
            <a:avLst>
              <a:gd name="adj" fmla="val 15358451"/>
            </a:avLst>
          </a:prstGeom>
          <a:solidFill>
            <a:srgbClr val="9FA582"/>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55859" y="2631281"/>
            <a:ext cx="267891" cy="267891"/>
          </a:xfrm>
          <a:prstGeom prst="rect">
            <a:avLst/>
          </a:prstGeom>
        </p:spPr>
      </p:pic>
      <p:sp>
        <p:nvSpPr>
          <p:cNvPr id="6" name="Text 3"/>
          <p:cNvSpPr/>
          <p:nvPr/>
        </p:nvSpPr>
        <p:spPr>
          <a:xfrm>
            <a:off x="992148" y="3261360"/>
            <a:ext cx="3462933" cy="310158"/>
          </a:xfrm>
          <a:prstGeom prst="rect">
            <a:avLst/>
          </a:prstGeom>
          <a:noFill/>
          <a:ln/>
        </p:spPr>
        <p:txBody>
          <a:bodyPr wrap="none" lIns="0" tIns="0" rIns="0" bIns="0" rtlCol="0" anchor="t"/>
          <a:lstStyle/>
          <a:p>
            <a:pPr algn="l" indent="0" marL="0">
              <a:lnSpc>
                <a:spcPts val="2400"/>
              </a:lnSpc>
              <a:buNone/>
            </a:pPr>
            <a:r>
              <a:rPr lang="en-US" sz="1950" b="1" dirty="0">
                <a:solidFill>
                  <a:srgbClr val="C2C4B5"/>
                </a:solidFill>
                <a:latin typeface="Outfit Bold" pitchFamily="34" charset="0"/>
                <a:ea typeface="Outfit Bold" pitchFamily="34" charset="-122"/>
                <a:cs typeface="Outfit Bold" pitchFamily="34" charset="-120"/>
              </a:rPr>
              <a:t>Taints Repel, Tolerations Allow</a:t>
            </a:r>
            <a:endParaRPr lang="en-US" sz="1950" dirty="0"/>
          </a:p>
        </p:txBody>
      </p:sp>
      <p:sp>
        <p:nvSpPr>
          <p:cNvPr id="7" name="Text 4"/>
          <p:cNvSpPr/>
          <p:nvPr/>
        </p:nvSpPr>
        <p:spPr>
          <a:xfrm>
            <a:off x="992148" y="3690580"/>
            <a:ext cx="6025515" cy="635079"/>
          </a:xfrm>
          <a:prstGeom prst="rect">
            <a:avLst/>
          </a:prstGeom>
          <a:noFill/>
          <a:ln/>
        </p:spPr>
        <p:txBody>
          <a:bodyPr wrap="square" lIns="0" tIns="0" rIns="0" bIns="0" rtlCol="0" anchor="t"/>
          <a:lstStyle/>
          <a:p>
            <a:pPr algn="l" indent="0" marL="0">
              <a:lnSpc>
                <a:spcPts val="2500"/>
              </a:lnSpc>
              <a:buNone/>
            </a:pPr>
            <a:r>
              <a:rPr lang="en-US" sz="1550" dirty="0">
                <a:solidFill>
                  <a:srgbClr val="C2C4B5"/>
                </a:solidFill>
                <a:latin typeface="Bitter" pitchFamily="34" charset="0"/>
                <a:ea typeface="Bitter" pitchFamily="34" charset="-122"/>
                <a:cs typeface="Bitter" pitchFamily="34" charset="-120"/>
              </a:rPr>
              <a:t>Taints on nodes prevent scheduling by default. Tolerations in pods grant permission to schedule despite taints.</a:t>
            </a:r>
            <a:endParaRPr lang="en-US" sz="1550" dirty="0"/>
          </a:p>
        </p:txBody>
      </p:sp>
      <p:sp>
        <p:nvSpPr>
          <p:cNvPr id="8" name="Shape 5"/>
          <p:cNvSpPr/>
          <p:nvPr/>
        </p:nvSpPr>
        <p:spPr>
          <a:xfrm>
            <a:off x="7414379" y="2269331"/>
            <a:ext cx="6422231" cy="2254687"/>
          </a:xfrm>
          <a:prstGeom prst="roundRect">
            <a:avLst>
              <a:gd name="adj" fmla="val 1320"/>
            </a:avLst>
          </a:prstGeom>
          <a:solidFill>
            <a:srgbClr val="3B3C3E"/>
          </a:solidFill>
          <a:ln/>
        </p:spPr>
      </p:sp>
      <p:sp>
        <p:nvSpPr>
          <p:cNvPr id="9" name="Shape 6"/>
          <p:cNvSpPr/>
          <p:nvPr/>
        </p:nvSpPr>
        <p:spPr>
          <a:xfrm>
            <a:off x="7612737" y="2467689"/>
            <a:ext cx="595313" cy="595313"/>
          </a:xfrm>
          <a:prstGeom prst="roundRect">
            <a:avLst>
              <a:gd name="adj" fmla="val 15358451"/>
            </a:avLst>
          </a:prstGeom>
          <a:solidFill>
            <a:srgbClr val="9FA582"/>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76448" y="2631281"/>
            <a:ext cx="267891" cy="267891"/>
          </a:xfrm>
          <a:prstGeom prst="rect">
            <a:avLst/>
          </a:prstGeom>
        </p:spPr>
      </p:pic>
      <p:sp>
        <p:nvSpPr>
          <p:cNvPr id="11" name="Text 7"/>
          <p:cNvSpPr/>
          <p:nvPr/>
        </p:nvSpPr>
        <p:spPr>
          <a:xfrm>
            <a:off x="7612737" y="3261360"/>
            <a:ext cx="2815709" cy="310158"/>
          </a:xfrm>
          <a:prstGeom prst="rect">
            <a:avLst/>
          </a:prstGeom>
          <a:noFill/>
          <a:ln/>
        </p:spPr>
        <p:txBody>
          <a:bodyPr wrap="none" lIns="0" tIns="0" rIns="0" bIns="0" rtlCol="0" anchor="t"/>
          <a:lstStyle/>
          <a:p>
            <a:pPr algn="l" indent="0" marL="0">
              <a:lnSpc>
                <a:spcPts val="2400"/>
              </a:lnSpc>
              <a:buNone/>
            </a:pPr>
            <a:r>
              <a:rPr lang="en-US" sz="1950" b="1" dirty="0">
                <a:solidFill>
                  <a:srgbClr val="C2C4B5"/>
                </a:solidFill>
                <a:latin typeface="Outfit Bold" pitchFamily="34" charset="0"/>
                <a:ea typeface="Outfit Bold" pitchFamily="34" charset="-122"/>
                <a:cs typeface="Outfit Bold" pitchFamily="34" charset="-120"/>
              </a:rPr>
              <a:t>Matching Logic is Crucial</a:t>
            </a:r>
            <a:endParaRPr lang="en-US" sz="1950" dirty="0"/>
          </a:p>
        </p:txBody>
      </p:sp>
      <p:sp>
        <p:nvSpPr>
          <p:cNvPr id="12" name="Text 8"/>
          <p:cNvSpPr/>
          <p:nvPr/>
        </p:nvSpPr>
        <p:spPr>
          <a:xfrm>
            <a:off x="7612737" y="3690580"/>
            <a:ext cx="6025515" cy="635079"/>
          </a:xfrm>
          <a:prstGeom prst="rect">
            <a:avLst/>
          </a:prstGeom>
          <a:noFill/>
          <a:ln/>
        </p:spPr>
        <p:txBody>
          <a:bodyPr wrap="square" lIns="0" tIns="0" rIns="0" bIns="0" rtlCol="0" anchor="t"/>
          <a:lstStyle/>
          <a:p>
            <a:pPr algn="l" indent="0" marL="0">
              <a:lnSpc>
                <a:spcPts val="2500"/>
              </a:lnSpc>
              <a:buNone/>
            </a:pPr>
            <a:r>
              <a:rPr lang="en-US" sz="1550" dirty="0">
                <a:solidFill>
                  <a:srgbClr val="C2C4B5"/>
                </a:solidFill>
                <a:latin typeface="Bitter" pitchFamily="34" charset="0"/>
                <a:ea typeface="Bitter" pitchFamily="34" charset="-122"/>
                <a:cs typeface="Bitter" pitchFamily="34" charset="-120"/>
              </a:rPr>
              <a:t>Key must match exactly, operator determines value matching, effect must align. Multiple tolerations use OR logic.</a:t>
            </a:r>
            <a:endParaRPr lang="en-US" sz="1550" dirty="0"/>
          </a:p>
        </p:txBody>
      </p:sp>
      <p:sp>
        <p:nvSpPr>
          <p:cNvPr id="13" name="Shape 9"/>
          <p:cNvSpPr/>
          <p:nvPr/>
        </p:nvSpPr>
        <p:spPr>
          <a:xfrm>
            <a:off x="793790" y="4722376"/>
            <a:ext cx="6422231" cy="2254687"/>
          </a:xfrm>
          <a:prstGeom prst="roundRect">
            <a:avLst>
              <a:gd name="adj" fmla="val 1320"/>
            </a:avLst>
          </a:prstGeom>
          <a:solidFill>
            <a:srgbClr val="3B3C3E"/>
          </a:solidFill>
          <a:ln/>
        </p:spPr>
      </p:sp>
      <p:sp>
        <p:nvSpPr>
          <p:cNvPr id="14" name="Shape 10"/>
          <p:cNvSpPr/>
          <p:nvPr/>
        </p:nvSpPr>
        <p:spPr>
          <a:xfrm>
            <a:off x="992148" y="4920734"/>
            <a:ext cx="595313" cy="595313"/>
          </a:xfrm>
          <a:prstGeom prst="roundRect">
            <a:avLst>
              <a:gd name="adj" fmla="val 15358451"/>
            </a:avLst>
          </a:prstGeom>
          <a:solidFill>
            <a:srgbClr val="9FA582"/>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55859" y="5084326"/>
            <a:ext cx="267891" cy="267891"/>
          </a:xfrm>
          <a:prstGeom prst="rect">
            <a:avLst/>
          </a:prstGeom>
        </p:spPr>
      </p:pic>
      <p:sp>
        <p:nvSpPr>
          <p:cNvPr id="16" name="Text 11"/>
          <p:cNvSpPr/>
          <p:nvPr/>
        </p:nvSpPr>
        <p:spPr>
          <a:xfrm>
            <a:off x="992148" y="5714405"/>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C2C4B5"/>
                </a:solidFill>
                <a:latin typeface="Outfit Bold" pitchFamily="34" charset="0"/>
                <a:ea typeface="Outfit Bold" pitchFamily="34" charset="-122"/>
                <a:cs typeface="Outfit Bold" pitchFamily="34" charset="-120"/>
              </a:rPr>
              <a:t>YAML Structure</a:t>
            </a:r>
            <a:endParaRPr lang="en-US" sz="1950" dirty="0"/>
          </a:p>
        </p:txBody>
      </p:sp>
      <p:sp>
        <p:nvSpPr>
          <p:cNvPr id="17" name="Text 12"/>
          <p:cNvSpPr/>
          <p:nvPr/>
        </p:nvSpPr>
        <p:spPr>
          <a:xfrm>
            <a:off x="992148" y="6143625"/>
            <a:ext cx="6025515" cy="635079"/>
          </a:xfrm>
          <a:prstGeom prst="rect">
            <a:avLst/>
          </a:prstGeom>
          <a:noFill/>
          <a:ln/>
        </p:spPr>
        <p:txBody>
          <a:bodyPr wrap="square" lIns="0" tIns="0" rIns="0" bIns="0" rtlCol="0" anchor="t"/>
          <a:lstStyle/>
          <a:p>
            <a:pPr algn="l" indent="0" marL="0">
              <a:lnSpc>
                <a:spcPts val="2500"/>
              </a:lnSpc>
              <a:buNone/>
            </a:pPr>
            <a:r>
              <a:rPr lang="en-US" sz="1550" dirty="0">
                <a:solidFill>
                  <a:srgbClr val="C2C4B5"/>
                </a:solidFill>
                <a:latin typeface="Bitter" pitchFamily="34" charset="0"/>
                <a:ea typeface="Bitter" pitchFamily="34" charset="-122"/>
                <a:cs typeface="Bitter" pitchFamily="34" charset="-120"/>
              </a:rPr>
              <a:t>Learn the exact syntax: key, operator (Equal/Exists), value (optional), effect (optional), tolerationSeconds (NoExecute only).</a:t>
            </a:r>
            <a:endParaRPr lang="en-US" sz="1550" dirty="0"/>
          </a:p>
        </p:txBody>
      </p:sp>
      <p:sp>
        <p:nvSpPr>
          <p:cNvPr id="18" name="Shape 13"/>
          <p:cNvSpPr/>
          <p:nvPr/>
        </p:nvSpPr>
        <p:spPr>
          <a:xfrm>
            <a:off x="7414379" y="4722376"/>
            <a:ext cx="6422231" cy="2254687"/>
          </a:xfrm>
          <a:prstGeom prst="roundRect">
            <a:avLst>
              <a:gd name="adj" fmla="val 1320"/>
            </a:avLst>
          </a:prstGeom>
          <a:solidFill>
            <a:srgbClr val="3B3C3E"/>
          </a:solidFill>
          <a:ln/>
        </p:spPr>
      </p:sp>
      <p:sp>
        <p:nvSpPr>
          <p:cNvPr id="19" name="Shape 14"/>
          <p:cNvSpPr/>
          <p:nvPr/>
        </p:nvSpPr>
        <p:spPr>
          <a:xfrm>
            <a:off x="7612737" y="4920734"/>
            <a:ext cx="595313" cy="595313"/>
          </a:xfrm>
          <a:prstGeom prst="roundRect">
            <a:avLst>
              <a:gd name="adj" fmla="val 15358451"/>
            </a:avLst>
          </a:prstGeom>
          <a:solidFill>
            <a:srgbClr val="9FA582"/>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76448" y="5084326"/>
            <a:ext cx="267891" cy="267891"/>
          </a:xfrm>
          <a:prstGeom prst="rect">
            <a:avLst/>
          </a:prstGeom>
        </p:spPr>
      </p:pic>
      <p:sp>
        <p:nvSpPr>
          <p:cNvPr id="21" name="Text 15"/>
          <p:cNvSpPr/>
          <p:nvPr/>
        </p:nvSpPr>
        <p:spPr>
          <a:xfrm>
            <a:off x="7612737" y="5714405"/>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C2C4B5"/>
                </a:solidFill>
                <a:latin typeface="Outfit Bold" pitchFamily="34" charset="0"/>
                <a:ea typeface="Outfit Bold" pitchFamily="34" charset="-122"/>
                <a:cs typeface="Outfit Bold" pitchFamily="34" charset="-120"/>
              </a:rPr>
              <a:t>NoExecute + Seconds</a:t>
            </a:r>
            <a:endParaRPr lang="en-US" sz="1950" dirty="0"/>
          </a:p>
        </p:txBody>
      </p:sp>
      <p:sp>
        <p:nvSpPr>
          <p:cNvPr id="22" name="Text 16"/>
          <p:cNvSpPr/>
          <p:nvPr/>
        </p:nvSpPr>
        <p:spPr>
          <a:xfrm>
            <a:off x="7612737" y="6143625"/>
            <a:ext cx="6025515" cy="635079"/>
          </a:xfrm>
          <a:prstGeom prst="rect">
            <a:avLst/>
          </a:prstGeom>
          <a:noFill/>
          <a:ln/>
        </p:spPr>
        <p:txBody>
          <a:bodyPr wrap="square" lIns="0" tIns="0" rIns="0" bIns="0" rtlCol="0" anchor="t"/>
          <a:lstStyle/>
          <a:p>
            <a:pPr algn="l" indent="0" marL="0">
              <a:lnSpc>
                <a:spcPts val="2500"/>
              </a:lnSpc>
              <a:buNone/>
            </a:pPr>
            <a:r>
              <a:rPr lang="en-US" sz="1550" dirty="0">
                <a:solidFill>
                  <a:srgbClr val="C2C4B5"/>
                </a:solidFill>
                <a:latin typeface="Bitter" pitchFamily="34" charset="0"/>
                <a:ea typeface="Bitter" pitchFamily="34" charset="-122"/>
                <a:cs typeface="Bitter" pitchFamily="34" charset="-120"/>
              </a:rPr>
              <a:t>Grace period for evictions. Only works with NoExecute effect. Critical for maintenance scenarios.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2026-03-25T06:49:44Z</dcterms:created>
  <dcterms:modified xsi:type="dcterms:W3CDTF">2026-03-25T06:49:44Z</dcterms:modified>
</cp:coreProperties>
</file>