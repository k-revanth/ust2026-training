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Outfit"/>
      <p:regular r:id="rId16"/>
    </p:embeddedFont>
    <p:embeddedFont>
      <p:font typeface="Outfit"/>
      <p:regular r:id="rId17"/>
    </p:embeddedFont>
    <p:embeddedFont>
      <p:font typeface="Bitter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9710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Kubernetes Taints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1483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Master node scheduling control for CKA certification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7705"/>
            <a:ext cx="7556421" cy="1054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Problem: Why We Need to Restrict Pods from Nodes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0190" y="1956911"/>
            <a:ext cx="7556421" cy="1185982"/>
          </a:xfrm>
          <a:prstGeom prst="roundRect">
            <a:avLst>
              <a:gd name="adj" fmla="val 2134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6448782" y="2125504"/>
            <a:ext cx="238458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Hardware Specialisation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448782" y="2474952"/>
            <a:ext cx="7219236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Dedicated nodes with GPU or high-memory configurations should only run compatible workloads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80190" y="3286244"/>
            <a:ext cx="7556421" cy="936308"/>
          </a:xfrm>
          <a:prstGeom prst="roundRect">
            <a:avLst>
              <a:gd name="adj" fmla="val 2703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6448782" y="3454837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Cluster Maintenance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448782" y="3804285"/>
            <a:ext cx="721923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Prevent new pods from scheduling during node upgrades or maintenance windows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80190" y="4365903"/>
            <a:ext cx="7556421" cy="936308"/>
          </a:xfrm>
          <a:prstGeom prst="roundRect">
            <a:avLst>
              <a:gd name="adj" fmla="val 2703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6448782" y="4534495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Security Isolation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448782" y="4883944"/>
            <a:ext cx="721923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Keep sensitive workloads separated from regular pods for compliance requirements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80190" y="5445562"/>
            <a:ext cx="7556421" cy="936308"/>
          </a:xfrm>
          <a:prstGeom prst="roundRect">
            <a:avLst>
              <a:gd name="adj" fmla="val 2703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6448782" y="5614154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Resource Protection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448782" y="5963602"/>
            <a:ext cx="721923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Reserve nodes for specific teams or applications without interference from other workloads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80190" y="6543080"/>
            <a:ext cx="7556421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Without taints, the Kubernetes scheduler freely assigns pods to any available node that meets resource requirements. This flexibility becomes a problem when you need fine-grained control over where specific workloads run. Taints provide the mechanism to repel pods from nodes, working in conjunction with tolerations that allow specific pods to overcome these restrictions.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52218"/>
            <a:ext cx="64473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Definition: What Are Taints?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2648545"/>
            <a:ext cx="434018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taint is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repelling force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applied to a node that prevents pods from scheduling onto it, unless those pods specifically tolerate the taint.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3779758"/>
            <a:ext cx="434018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Think of taints as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forbidden zones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most pods. Only pods carrying the matching "permission pass" (toleration) can enter.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910971"/>
            <a:ext cx="434018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Taints are key-value pairs combined with an effect that determines how strongly the node rejects pods. This system works alongside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node affinity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(which attracts pods to nodes) to give you complete scheduling control.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1112103" y="2693194"/>
            <a:ext cx="2732008" cy="2621875"/>
          </a:xfrm>
          <a:prstGeom prst="roundRect">
            <a:avLst>
              <a:gd name="adj" fmla="val 1135"/>
            </a:avLst>
          </a:prstGeom>
          <a:solidFill>
            <a:srgbClr val="2A2C2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461" y="2967871"/>
            <a:ext cx="310039" cy="2480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18858" y="2941082"/>
            <a:ext cx="18268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Concept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1818858" y="3449598"/>
            <a:ext cx="18268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repel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pods from nodes. Tolerations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attract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specific pods to tainted nodes.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8538"/>
            <a:ext cx="678989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Taint Syntax: The Complete Structure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1438632"/>
            <a:ext cx="13042821" cy="774621"/>
          </a:xfrm>
          <a:prstGeom prst="roundRect">
            <a:avLst>
              <a:gd name="adj" fmla="val 3075"/>
            </a:avLst>
          </a:prstGeom>
          <a:solidFill>
            <a:srgbClr val="292A2C"/>
          </a:solidFill>
          <a:ln/>
        </p:spPr>
      </p:sp>
      <p:sp>
        <p:nvSpPr>
          <p:cNvPr id="4" name="Shape 2"/>
          <p:cNvSpPr/>
          <p:nvPr/>
        </p:nvSpPr>
        <p:spPr>
          <a:xfrm>
            <a:off x="785932" y="1438632"/>
            <a:ext cx="13058537" cy="774621"/>
          </a:xfrm>
          <a:prstGeom prst="roundRect">
            <a:avLst>
              <a:gd name="adj" fmla="val 3075"/>
            </a:avLst>
          </a:prstGeom>
          <a:solidFill>
            <a:srgbClr val="292A2C"/>
          </a:solidFill>
          <a:ln/>
        </p:spPr>
      </p:sp>
      <p:sp>
        <p:nvSpPr>
          <p:cNvPr id="5" name="Text 3"/>
          <p:cNvSpPr/>
          <p:nvPr/>
        </p:nvSpPr>
        <p:spPr>
          <a:xfrm>
            <a:off x="984290" y="1597343"/>
            <a:ext cx="12661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key=value:effect
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23561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3790" y="2602944"/>
            <a:ext cx="4262914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27279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3052167"/>
            <a:ext cx="426291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Descriptive label for the taint purpose (e.g.,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dedicated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83624" y="23561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83624" y="2602944"/>
            <a:ext cx="4263033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2" name="Text 10"/>
          <p:cNvSpPr/>
          <p:nvPr/>
        </p:nvSpPr>
        <p:spPr>
          <a:xfrm>
            <a:off x="5183624" y="27279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Value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183624" y="3052167"/>
            <a:ext cx="426303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Optional qualifier providing more detail (e.g.,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gpu=true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team=backend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73578" y="2356128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573578" y="2602944"/>
            <a:ext cx="4263033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6" name="Text 14"/>
          <p:cNvSpPr/>
          <p:nvPr/>
        </p:nvSpPr>
        <p:spPr>
          <a:xfrm>
            <a:off x="9573578" y="272796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Effect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573578" y="3052167"/>
            <a:ext cx="426303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How the taint behaves: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NoSchedule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PreferNoSchedule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or 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NoExecute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3790" y="3849410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Example Taints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93790" y="4337566"/>
            <a:ext cx="13042821" cy="2603421"/>
          </a:xfrm>
          <a:prstGeom prst="roundRect">
            <a:avLst>
              <a:gd name="adj" fmla="val 915"/>
            </a:avLst>
          </a:prstGeom>
          <a:solidFill>
            <a:srgbClr val="292A2C"/>
          </a:solidFill>
          <a:ln/>
        </p:spPr>
      </p:sp>
      <p:sp>
        <p:nvSpPr>
          <p:cNvPr id="20" name="Shape 18"/>
          <p:cNvSpPr/>
          <p:nvPr/>
        </p:nvSpPr>
        <p:spPr>
          <a:xfrm>
            <a:off x="785932" y="4337566"/>
            <a:ext cx="13058537" cy="2603421"/>
          </a:xfrm>
          <a:prstGeom prst="roundRect">
            <a:avLst>
              <a:gd name="adj" fmla="val 915"/>
            </a:avLst>
          </a:prstGeom>
          <a:solidFill>
            <a:srgbClr val="292A2C"/>
          </a:solidFill>
          <a:ln/>
        </p:spPr>
      </p:sp>
      <p:sp>
        <p:nvSpPr>
          <p:cNvPr id="21" name="Text 19"/>
          <p:cNvSpPr/>
          <p:nvPr/>
        </p:nvSpPr>
        <p:spPr>
          <a:xfrm>
            <a:off x="984290" y="4496276"/>
            <a:ext cx="12661821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49E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key-only taint
dedicated:NoSchedule
# Key-value pair taint
gpu=true:NoSchedule
# Multiple taints on same node
dedicated=backend:NoSchedule
hardware=gpu:NoExecute
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3790" y="7083862"/>
            <a:ext cx="130428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Taints can include or exclude values. Omit the value portion when the key alone conveys the restriction. Use key-value pairs when you need more granular control over which pods can tolerate the taint.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1272"/>
            <a:ext cx="75564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Taint Effects: Three Levels of Restriction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280190" y="2098119"/>
            <a:ext cx="7556421" cy="1707356"/>
          </a:xfrm>
          <a:prstGeom prst="roundRect">
            <a:avLst>
              <a:gd name="adj" fmla="val 165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3050" y="2120979"/>
            <a:ext cx="188476" cy="1661636"/>
          </a:xfrm>
          <a:prstGeom prst="roundRect">
            <a:avLst>
              <a:gd name="adj" fmla="val 451"/>
            </a:avLst>
          </a:prstGeom>
          <a:solidFill>
            <a:srgbClr val="3B3C3E"/>
          </a:solidFill>
          <a:ln/>
        </p:spPr>
      </p:sp>
      <p:sp>
        <p:nvSpPr>
          <p:cNvPr id="6" name="Text 3"/>
          <p:cNvSpPr/>
          <p:nvPr/>
        </p:nvSpPr>
        <p:spPr>
          <a:xfrm>
            <a:off x="6670596" y="230945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PreferNoSchedule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70596" y="2711529"/>
            <a:ext cx="7143155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Soft preference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The scheduler tries to avoid this node but will schedule pods here if no other options exist. Best for "nice to have" restrictions when resources are tight.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62963" y="3984546"/>
            <a:ext cx="7273647" cy="1707356"/>
          </a:xfrm>
          <a:prstGeom prst="roundRect">
            <a:avLst>
              <a:gd name="adj" fmla="val 165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5823" y="4007406"/>
            <a:ext cx="188476" cy="1661636"/>
          </a:xfrm>
          <a:prstGeom prst="roundRect">
            <a:avLst>
              <a:gd name="adj" fmla="val 451"/>
            </a:avLst>
          </a:prstGeom>
          <a:solidFill>
            <a:srgbClr val="3B3C3E"/>
          </a:solidFill>
          <a:ln/>
        </p:spPr>
      </p:sp>
      <p:sp>
        <p:nvSpPr>
          <p:cNvPr id="10" name="Text 7"/>
          <p:cNvSpPr/>
          <p:nvPr/>
        </p:nvSpPr>
        <p:spPr>
          <a:xfrm>
            <a:off x="6953369" y="419588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NoSchedule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953369" y="4597956"/>
            <a:ext cx="6860381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Hard restriction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No new pods can schedule to this node unless they tolerate the taint. Existing pods continue running normally. Most commonly used effect for dedicated node scenarios.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845737" y="5870972"/>
            <a:ext cx="6990874" cy="1707356"/>
          </a:xfrm>
          <a:prstGeom prst="roundRect">
            <a:avLst>
              <a:gd name="adj" fmla="val 1657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68597" y="5893832"/>
            <a:ext cx="188476" cy="1661636"/>
          </a:xfrm>
          <a:prstGeom prst="roundRect">
            <a:avLst>
              <a:gd name="adj" fmla="val 451"/>
            </a:avLst>
          </a:prstGeom>
          <a:solidFill>
            <a:srgbClr val="3B3C3E"/>
          </a:solidFill>
          <a:ln/>
        </p:spPr>
      </p:sp>
      <p:sp>
        <p:nvSpPr>
          <p:cNvPr id="14" name="Text 11"/>
          <p:cNvSpPr/>
          <p:nvPr/>
        </p:nvSpPr>
        <p:spPr>
          <a:xfrm>
            <a:off x="7236143" y="608230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NoExecute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236143" y="6484382"/>
            <a:ext cx="6577608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Aggressive eviction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- Prevents new scheduling AND evicts existing pods that don't tolerate the taint. Use carefully during maintenance or when nodes become unavailable.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4" y="279916"/>
            <a:ext cx="2515672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Taints Work Internally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07194" y="547688"/>
            <a:ext cx="1673781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Scheduler Behavior Explained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07194" y="750451"/>
            <a:ext cx="13816013" cy="9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When the Kubernetes scheduler processes a pod creation request, it follows a filtering and scoring process to identify suitable nodes. Taints are evaluated during the </a:t>
            </a:r>
            <a:pPr algn="l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filtering phase</a:t>
            </a:r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where nodes that don't meet requirements are eliminated from consideration.</a:t>
            </a:r>
            <a:endParaRPr lang="en-US" sz="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4" y="879753"/>
            <a:ext cx="4605338" cy="3257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8633" y="1238845"/>
            <a:ext cx="1018103" cy="127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Node Filtering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8633" y="1386007"/>
            <a:ext cx="4442460" cy="9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Scheduler checks all nodes against pod requirements</a:t>
            </a:r>
            <a:endParaRPr lang="en-US" sz="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531" y="879753"/>
            <a:ext cx="4605338" cy="3257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93970" y="1238845"/>
            <a:ext cx="1018103" cy="127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Taint Evaluation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093970" y="1386007"/>
            <a:ext cx="4442460" cy="9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Tainted nodes reject pods without matching tolerations</a:t>
            </a:r>
            <a:endParaRPr lang="en-US" sz="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7869" y="879753"/>
            <a:ext cx="4605338" cy="3257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9308" y="1238845"/>
            <a:ext cx="1018103" cy="127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Pod Scheduling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9699308" y="1386007"/>
            <a:ext cx="4442460" cy="91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Only acceptable nodes remain for pod placement</a:t>
            </a:r>
            <a:endParaRPr lang="en-US" sz="600" dirty="0"/>
          </a:p>
        </p:txBody>
      </p:sp>
      <p:sp>
        <p:nvSpPr>
          <p:cNvPr id="14" name="Text 9"/>
          <p:cNvSpPr/>
          <p:nvPr/>
        </p:nvSpPr>
        <p:spPr>
          <a:xfrm>
            <a:off x="407194" y="1609368"/>
            <a:ext cx="1552575" cy="152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Implementation Details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07194" y="1812131"/>
            <a:ext cx="13816013" cy="513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Taints are stored as node annotations in etcd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scheduler watches for taint changes and updates its scheduling decisions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Nodes can have multiple taints simultaneously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Pod tolerations must match taint key, value, and effect exactly</a:t>
            </a:r>
            <a:endParaRPr lang="en-US" sz="600" dirty="0"/>
          </a:p>
          <a:p>
            <a:pPr algn="l" marL="342900" indent="-342900">
              <a:lnSpc>
                <a:spcPts val="700"/>
              </a:lnSpc>
              <a:buSzPct val="100000"/>
              <a:buChar char="•"/>
            </a:pPr>
            <a:r>
              <a:rPr lang="en-US" sz="6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TolerationSeconds</a:t>
            </a:r>
            <a:pPr algn="l" indent="0" marL="0">
              <a:lnSpc>
                <a:spcPts val="700"/>
              </a:lnSpc>
              <a:buNone/>
            </a:pPr>
            <a:r>
              <a:rPr lang="en-US" sz="6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allows temporary tolerations that expire</a:t>
            </a:r>
            <a:endParaRPr lang="en-US" sz="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5262" y="2362914"/>
            <a:ext cx="8539758" cy="588502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59183" y="6024784"/>
            <a:ext cx="2333663" cy="31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Filter Nodes</a:t>
            </a:r>
            <a:endParaRPr lang="en-US" sz="1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5821" y="4525596"/>
            <a:ext cx="552632" cy="5526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47796" y="3553481"/>
            <a:ext cx="2409478" cy="31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Evaluate Taints</a:t>
            </a:r>
            <a:endParaRPr lang="en-US" sz="19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2658" y="4862529"/>
            <a:ext cx="552632" cy="5526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65282" y="6748560"/>
            <a:ext cx="2333663" cy="31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Score Candidates</a:t>
            </a:r>
            <a:endParaRPr lang="en-US" sz="1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9667" y="5199462"/>
            <a:ext cx="552633" cy="5526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936790" y="4204033"/>
            <a:ext cx="2333663" cy="31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Bind Pod</a:t>
            </a:r>
            <a:endParaRPr lang="en-US" sz="19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08930" y="5561264"/>
            <a:ext cx="552632" cy="5526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535" y="615791"/>
            <a:ext cx="3499723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Adding and Removing Taints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63535" y="976074"/>
            <a:ext cx="1617583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Command Examples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3535" y="1266111"/>
            <a:ext cx="7816929" cy="962025"/>
          </a:xfrm>
          <a:prstGeom prst="roundRect">
            <a:avLst>
              <a:gd name="adj" fmla="val 7604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8295" y="1266111"/>
            <a:ext cx="60960" cy="962025"/>
          </a:xfrm>
          <a:prstGeom prst="roundRect">
            <a:avLst>
              <a:gd name="adj" fmla="val 26535"/>
            </a:avLst>
          </a:prstGeom>
          <a:solidFill>
            <a:srgbClr val="9FA582"/>
          </a:solidFill>
          <a:ln/>
        </p:spPr>
      </p:sp>
      <p:sp>
        <p:nvSpPr>
          <p:cNvPr id="7" name="Text 4"/>
          <p:cNvSpPr/>
          <p:nvPr/>
        </p:nvSpPr>
        <p:spPr>
          <a:xfrm>
            <a:off x="832247" y="1389102"/>
            <a:ext cx="134790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a Taint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2247" y="1623417"/>
            <a:ext cx="7525226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9" name="Shape 6"/>
          <p:cNvSpPr/>
          <p:nvPr/>
        </p:nvSpPr>
        <p:spPr>
          <a:xfrm>
            <a:off x="826889" y="1623417"/>
            <a:ext cx="7535942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10" name="Text 7"/>
          <p:cNvSpPr/>
          <p:nvPr/>
        </p:nvSpPr>
        <p:spPr>
          <a:xfrm>
            <a:off x="961668" y="1731169"/>
            <a:ext cx="7266384" cy="26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node1 dedicated=backend:NoSchedule
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63535" y="2286714"/>
            <a:ext cx="7816929" cy="962025"/>
          </a:xfrm>
          <a:prstGeom prst="roundRect">
            <a:avLst>
              <a:gd name="adj" fmla="val 7604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8295" y="2286714"/>
            <a:ext cx="60960" cy="962025"/>
          </a:xfrm>
          <a:prstGeom prst="roundRect">
            <a:avLst>
              <a:gd name="adj" fmla="val 26535"/>
            </a:avLst>
          </a:prstGeom>
          <a:solidFill>
            <a:srgbClr val="9FA582"/>
          </a:solidFill>
          <a:ln/>
        </p:spPr>
      </p:sp>
      <p:sp>
        <p:nvSpPr>
          <p:cNvPr id="13" name="Text 10"/>
          <p:cNvSpPr/>
          <p:nvPr/>
        </p:nvSpPr>
        <p:spPr>
          <a:xfrm>
            <a:off x="832247" y="2409706"/>
            <a:ext cx="134790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Remove a Taint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32247" y="2644021"/>
            <a:ext cx="7525226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15" name="Shape 12"/>
          <p:cNvSpPr/>
          <p:nvPr/>
        </p:nvSpPr>
        <p:spPr>
          <a:xfrm>
            <a:off x="826889" y="2644021"/>
            <a:ext cx="7535942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16" name="Text 13"/>
          <p:cNvSpPr/>
          <p:nvPr/>
        </p:nvSpPr>
        <p:spPr>
          <a:xfrm>
            <a:off x="961668" y="2751773"/>
            <a:ext cx="7266384" cy="26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node1 dedicated=backend:NoSchedule-
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63535" y="3307318"/>
            <a:ext cx="7816929" cy="962025"/>
          </a:xfrm>
          <a:prstGeom prst="roundRect">
            <a:avLst>
              <a:gd name="adj" fmla="val 7604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8295" y="3307318"/>
            <a:ext cx="60960" cy="962025"/>
          </a:xfrm>
          <a:prstGeom prst="roundRect">
            <a:avLst>
              <a:gd name="adj" fmla="val 26535"/>
            </a:avLst>
          </a:prstGeom>
          <a:solidFill>
            <a:srgbClr val="9FA582"/>
          </a:solidFill>
          <a:ln/>
        </p:spPr>
      </p:sp>
      <p:sp>
        <p:nvSpPr>
          <p:cNvPr id="19" name="Text 16"/>
          <p:cNvSpPr/>
          <p:nvPr/>
        </p:nvSpPr>
        <p:spPr>
          <a:xfrm>
            <a:off x="832247" y="3430310"/>
            <a:ext cx="134790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View Node Taints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247" y="3664625"/>
            <a:ext cx="7525226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21" name="Shape 18"/>
          <p:cNvSpPr/>
          <p:nvPr/>
        </p:nvSpPr>
        <p:spPr>
          <a:xfrm>
            <a:off x="826889" y="3664625"/>
            <a:ext cx="7535942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22" name="Text 19"/>
          <p:cNvSpPr/>
          <p:nvPr/>
        </p:nvSpPr>
        <p:spPr>
          <a:xfrm>
            <a:off x="961668" y="3772376"/>
            <a:ext cx="7266384" cy="26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node node1 | grep Taint
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63535" y="4327922"/>
            <a:ext cx="7816929" cy="962025"/>
          </a:xfrm>
          <a:prstGeom prst="roundRect">
            <a:avLst>
              <a:gd name="adj" fmla="val 7604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8295" y="4327922"/>
            <a:ext cx="60960" cy="962025"/>
          </a:xfrm>
          <a:prstGeom prst="roundRect">
            <a:avLst>
              <a:gd name="adj" fmla="val 26535"/>
            </a:avLst>
          </a:prstGeom>
          <a:solidFill>
            <a:srgbClr val="9FA582"/>
          </a:solidFill>
          <a:ln/>
        </p:spPr>
      </p:sp>
      <p:sp>
        <p:nvSpPr>
          <p:cNvPr id="25" name="Text 22"/>
          <p:cNvSpPr/>
          <p:nvPr/>
        </p:nvSpPr>
        <p:spPr>
          <a:xfrm>
            <a:off x="832247" y="4450913"/>
            <a:ext cx="153138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List All Nodes with Taints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2247" y="4685228"/>
            <a:ext cx="7525226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27" name="Shape 24"/>
          <p:cNvSpPr/>
          <p:nvPr/>
        </p:nvSpPr>
        <p:spPr>
          <a:xfrm>
            <a:off x="826889" y="4685228"/>
            <a:ext cx="7535942" cy="481727"/>
          </a:xfrm>
          <a:prstGeom prst="roundRect">
            <a:avLst>
              <a:gd name="adj" fmla="val 3358"/>
            </a:avLst>
          </a:prstGeom>
          <a:solidFill>
            <a:srgbClr val="292A2C"/>
          </a:solidFill>
          <a:ln/>
        </p:spPr>
      </p:sp>
      <p:sp>
        <p:nvSpPr>
          <p:cNvPr id="28" name="Text 25"/>
          <p:cNvSpPr/>
          <p:nvPr/>
        </p:nvSpPr>
        <p:spPr>
          <a:xfrm>
            <a:off x="961668" y="4792980"/>
            <a:ext cx="7266384" cy="266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C2C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-o custom-columns=NAME:.metadata.name,TAINTS:.spec.taints
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63535" y="5377815"/>
            <a:ext cx="2145625" cy="202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Common Command Patterns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63535" y="5667851"/>
            <a:ext cx="7816929" cy="1945958"/>
          </a:xfrm>
          <a:prstGeom prst="roundRect">
            <a:avLst>
              <a:gd name="adj" fmla="val 831"/>
            </a:avLst>
          </a:prstGeom>
          <a:solidFill>
            <a:srgbClr val="292A2C"/>
          </a:solidFill>
          <a:ln/>
        </p:spPr>
      </p:sp>
      <p:sp>
        <p:nvSpPr>
          <p:cNvPr id="31" name="Shape 28"/>
          <p:cNvSpPr/>
          <p:nvPr/>
        </p:nvSpPr>
        <p:spPr>
          <a:xfrm>
            <a:off x="658178" y="5667851"/>
            <a:ext cx="7827645" cy="1945958"/>
          </a:xfrm>
          <a:prstGeom prst="roundRect">
            <a:avLst>
              <a:gd name="adj" fmla="val 831"/>
            </a:avLst>
          </a:prstGeom>
          <a:solidFill>
            <a:srgbClr val="292A2C"/>
          </a:solidFill>
          <a:ln/>
        </p:spPr>
      </p:sp>
      <p:sp>
        <p:nvSpPr>
          <p:cNvPr id="32" name="Text 29"/>
          <p:cNvSpPr/>
          <p:nvPr/>
        </p:nvSpPr>
        <p:spPr>
          <a:xfrm>
            <a:off x="792956" y="5775603"/>
            <a:ext cx="7558088" cy="1730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8B949E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Add taint to multiple nodes
kubectl taint nodes node1 node2 node3 dedicated:NoSchedule
# Add tolerationSeconds (eviction after 300s)
kubectl taint nodes node1 dedicated:NoExecute --overwrite
# Remove all taints from a node
kubectl taint nodes node1 dedicated:NoSchedule-
kubectl taint nodes node1 gpu:NoSchedule-
# Verify taint was applied
kubectl describe node node1 | grep Taint
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02218"/>
            <a:ext cx="6953726" cy="403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Real-World Example: Dedicated Node Scenario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280190" y="1038820"/>
            <a:ext cx="1941552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Business Requirement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80190" y="1406366"/>
            <a:ext cx="7556421" cy="34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Your organisation runs a backend API service requiring high CPU and memory resources. You've provisioned 3 dedicated worker nodes with enhanced specifications and want to ensure only backend pods schedule to these nodes.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80190" y="1872615"/>
            <a:ext cx="1955244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Implementation Steps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80190" y="2240161"/>
            <a:ext cx="128945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80190" y="2443996"/>
            <a:ext cx="3736300" cy="1524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6"/>
          <p:cNvSpPr/>
          <p:nvPr/>
        </p:nvSpPr>
        <p:spPr>
          <a:xfrm>
            <a:off x="6280190" y="2538889"/>
            <a:ext cx="2401967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Apply Taints to Dedicated Nodes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80190" y="2834640"/>
            <a:ext cx="3736300" cy="1449705"/>
          </a:xfrm>
          <a:prstGeom prst="roundRect">
            <a:avLst>
              <a:gd name="adj" fmla="val 1335"/>
            </a:avLst>
          </a:prstGeom>
          <a:solidFill>
            <a:srgbClr val="292A2C"/>
          </a:solidFill>
          <a:ln/>
        </p:spPr>
      </p:sp>
      <p:sp>
        <p:nvSpPr>
          <p:cNvPr id="11" name="Shape 8"/>
          <p:cNvSpPr/>
          <p:nvPr/>
        </p:nvSpPr>
        <p:spPr>
          <a:xfrm>
            <a:off x="6273760" y="2834640"/>
            <a:ext cx="3749159" cy="1449705"/>
          </a:xfrm>
          <a:prstGeom prst="roundRect">
            <a:avLst>
              <a:gd name="adj" fmla="val 1335"/>
            </a:avLst>
          </a:prstGeom>
          <a:solidFill>
            <a:srgbClr val="292A2C"/>
          </a:solidFill>
          <a:ln/>
        </p:spPr>
      </p:sp>
      <p:sp>
        <p:nvSpPr>
          <p:cNvPr id="12" name="Text 9"/>
          <p:cNvSpPr/>
          <p:nvPr/>
        </p:nvSpPr>
        <p:spPr>
          <a:xfrm>
            <a:off x="6434971" y="2963585"/>
            <a:ext cx="3426738" cy="1191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nodes backend-worker-1 backend=api:NoSchedule
kubectl taint nodes backend-worker-2 backend=api:NoSchedule
kubectl taint nodes backend-worker-3 backend=api:NoSchedule
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100310" y="2240161"/>
            <a:ext cx="128945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100310" y="2443996"/>
            <a:ext cx="3736300" cy="1524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5" name="Text 12"/>
          <p:cNvSpPr/>
          <p:nvPr/>
        </p:nvSpPr>
        <p:spPr>
          <a:xfrm>
            <a:off x="10100310" y="2538889"/>
            <a:ext cx="2964061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Add Tolerations to Backend Deployment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100310" y="2834640"/>
            <a:ext cx="3736300" cy="3152299"/>
          </a:xfrm>
          <a:prstGeom prst="roundRect">
            <a:avLst>
              <a:gd name="adj" fmla="val 614"/>
            </a:avLst>
          </a:prstGeom>
          <a:solidFill>
            <a:srgbClr val="292A2C"/>
          </a:solidFill>
          <a:ln/>
        </p:spPr>
      </p:sp>
      <p:sp>
        <p:nvSpPr>
          <p:cNvPr id="17" name="Shape 14"/>
          <p:cNvSpPr/>
          <p:nvPr/>
        </p:nvSpPr>
        <p:spPr>
          <a:xfrm>
            <a:off x="10093881" y="2834640"/>
            <a:ext cx="3749159" cy="3152299"/>
          </a:xfrm>
          <a:prstGeom prst="roundRect">
            <a:avLst>
              <a:gd name="adj" fmla="val 614"/>
            </a:avLst>
          </a:prstGeom>
          <a:solidFill>
            <a:srgbClr val="292A2C"/>
          </a:solidFill>
          <a:ln/>
        </p:spPr>
      </p:sp>
      <p:sp>
        <p:nvSpPr>
          <p:cNvPr id="18" name="Text 15"/>
          <p:cNvSpPr/>
          <p:nvPr/>
        </p:nvSpPr>
        <p:spPr>
          <a:xfrm>
            <a:off x="10255091" y="2963585"/>
            <a:ext cx="3426738" cy="2894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
kind: Deployment
metadata:
  name: backend-api
spec:
  replicas: 3
  template:
    spec:
      tolerations:
      - key: "backend"
        operator: "Equal"
        value: "api"
        effect: "NoSchedule"
      containers:
      - name: api-container
        image: backend-api:latest
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80190" y="6167438"/>
            <a:ext cx="128945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80190" y="6371273"/>
            <a:ext cx="7556421" cy="1524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1" name="Text 18"/>
          <p:cNvSpPr/>
          <p:nvPr/>
        </p:nvSpPr>
        <p:spPr>
          <a:xfrm>
            <a:off x="6280190" y="6466165"/>
            <a:ext cx="1612583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Verify Scheduling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80190" y="6761917"/>
            <a:ext cx="7556421" cy="768668"/>
          </a:xfrm>
          <a:prstGeom prst="roundRect">
            <a:avLst>
              <a:gd name="adj" fmla="val 2518"/>
            </a:avLst>
          </a:prstGeom>
          <a:solidFill>
            <a:srgbClr val="292A2C"/>
          </a:solidFill>
          <a:ln/>
        </p:spPr>
      </p:sp>
      <p:sp>
        <p:nvSpPr>
          <p:cNvPr id="23" name="Shape 20"/>
          <p:cNvSpPr/>
          <p:nvPr/>
        </p:nvSpPr>
        <p:spPr>
          <a:xfrm>
            <a:off x="6273760" y="6761917"/>
            <a:ext cx="7569279" cy="768668"/>
          </a:xfrm>
          <a:prstGeom prst="roundRect">
            <a:avLst>
              <a:gd name="adj" fmla="val 2518"/>
            </a:avLst>
          </a:prstGeom>
          <a:solidFill>
            <a:srgbClr val="292A2C"/>
          </a:solidFill>
          <a:ln/>
        </p:spPr>
      </p:sp>
      <p:sp>
        <p:nvSpPr>
          <p:cNvPr id="24" name="Text 21"/>
          <p:cNvSpPr/>
          <p:nvPr/>
        </p:nvSpPr>
        <p:spPr>
          <a:xfrm>
            <a:off x="6434971" y="6890861"/>
            <a:ext cx="7246858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wide
kubectl describe node backend-worker-1 | grep -i taint
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1185"/>
            <a:ext cx="59174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Summary: Key Takeaways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78098"/>
            <a:ext cx="4215289" cy="1793796"/>
          </a:xfrm>
          <a:prstGeom prst="roundRect">
            <a:avLst>
              <a:gd name="adj" fmla="val 1660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076456"/>
            <a:ext cx="36541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Taints Repel, Tolerations Attract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505676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Taints prevent pods from scheduling to nodes. Tolerations allow specific pods to overcome these restrictions.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878098"/>
            <a:ext cx="4215408" cy="1793796"/>
          </a:xfrm>
          <a:prstGeom prst="roundRect">
            <a:avLst>
              <a:gd name="adj" fmla="val 1660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5405795" y="30764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Three Effect Levels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3505676"/>
            <a:ext cx="3818692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PreferNoSchedule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(soft),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NoSchedule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(hard),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NoExecute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(eviction)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878098"/>
            <a:ext cx="4215289" cy="1793796"/>
          </a:xfrm>
          <a:prstGeom prst="roundRect">
            <a:avLst>
              <a:gd name="adj" fmla="val 1660"/>
            </a:avLst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9819561" y="3076456"/>
            <a:ext cx="25821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Master the Commands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3505676"/>
            <a:ext cx="3818573" cy="96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adds taints,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node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views them,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taint -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removes them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870252"/>
            <a:ext cx="13042702" cy="1143476"/>
          </a:xfrm>
          <a:prstGeom prst="roundRect">
            <a:avLst>
              <a:gd name="adj" fmla="val 2604"/>
            </a:avLst>
          </a:prstGeom>
          <a:solidFill>
            <a:srgbClr val="3B3C3E"/>
          </a:solidFill>
          <a:ln/>
        </p:spPr>
      </p:sp>
      <p:sp>
        <p:nvSpPr>
          <p:cNvPr id="13" name="Text 11"/>
          <p:cNvSpPr/>
          <p:nvPr/>
        </p:nvSpPr>
        <p:spPr>
          <a:xfrm>
            <a:off x="992148" y="5068610"/>
            <a:ext cx="282142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Syntax: key=value:effect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2148" y="5497830"/>
            <a:ext cx="126459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describes purpose, value provides detail, effect determines behavior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6336118"/>
            <a:ext cx="13042821" cy="32385"/>
          </a:xfrm>
          <a:prstGeom prst="rect">
            <a:avLst/>
          </a:prstGeom>
          <a:solidFill>
            <a:srgbClr val="C2C4B5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2026-03-25T06:49:26Z</dcterms:created>
  <dcterms:modified xsi:type="dcterms:W3CDTF">2026-03-25T06:49:26Z</dcterms:modified>
</cp:coreProperties>
</file>